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7" r:id="rId2"/>
    <p:sldId id="258" r:id="rId3"/>
    <p:sldId id="259" r:id="rId4"/>
    <p:sldId id="260" r:id="rId5"/>
    <p:sldId id="261" r:id="rId6"/>
    <p:sldId id="262" r:id="rId7"/>
    <p:sldId id="263" r:id="rId8"/>
    <p:sldId id="264" r:id="rId9"/>
    <p:sldId id="265" r:id="rId10"/>
    <p:sldId id="280" r:id="rId11"/>
    <p:sldId id="281"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439BFA-96E1-4169-9F74-0A3D02CDF81C}">
          <p14:sldIdLst>
            <p14:sldId id="257"/>
            <p14:sldId id="258"/>
            <p14:sldId id="259"/>
            <p14:sldId id="260"/>
            <p14:sldId id="261"/>
            <p14:sldId id="262"/>
            <p14:sldId id="263"/>
            <p14:sldId id="264"/>
            <p14:sldId id="265"/>
            <p14:sldId id="280"/>
            <p14:sldId id="281"/>
            <p14:sldId id="266"/>
            <p14:sldId id="267"/>
            <p14:sldId id="268"/>
            <p14:sldId id="269"/>
            <p14:sldId id="270"/>
            <p14:sldId id="271"/>
            <p14:sldId id="272"/>
            <p14:sldId id="273"/>
            <p14:sldId id="274"/>
            <p14:sldId id="275"/>
            <p14:sldId id="276"/>
            <p14:sldId id="277"/>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neeth K" userId="90f61ad99a405dec" providerId="LiveId" clId="{40E0D7C3-7943-45B0-85C2-E7690821AE58}"/>
    <pc:docChg chg="custSel modSld">
      <pc:chgData name="Puneeth K" userId="90f61ad99a405dec" providerId="LiveId" clId="{40E0D7C3-7943-45B0-85C2-E7690821AE58}" dt="2026-01-03T10:24:10.691" v="81" actId="120"/>
      <pc:docMkLst>
        <pc:docMk/>
      </pc:docMkLst>
      <pc:sldChg chg="modSp mod">
        <pc:chgData name="Puneeth K" userId="90f61ad99a405dec" providerId="LiveId" clId="{40E0D7C3-7943-45B0-85C2-E7690821AE58}" dt="2026-01-03T10:24:10.691" v="81" actId="120"/>
        <pc:sldMkLst>
          <pc:docMk/>
          <pc:sldMk cId="3339032937" sldId="257"/>
        </pc:sldMkLst>
        <pc:spChg chg="mod">
          <ac:chgData name="Puneeth K" userId="90f61ad99a405dec" providerId="LiveId" clId="{40E0D7C3-7943-45B0-85C2-E7690821AE58}" dt="2026-01-03T10:22:49.334" v="60" actId="1076"/>
          <ac:spMkLst>
            <pc:docMk/>
            <pc:sldMk cId="3339032937" sldId="257"/>
            <ac:spMk id="2" creationId="{F5F534EA-A262-13B3-42D4-E2C72DC4C554}"/>
          </ac:spMkLst>
        </pc:spChg>
        <pc:spChg chg="mod">
          <ac:chgData name="Puneeth K" userId="90f61ad99a405dec" providerId="LiveId" clId="{40E0D7C3-7943-45B0-85C2-E7690821AE58}" dt="2026-01-03T10:24:10.691" v="81" actId="120"/>
          <ac:spMkLst>
            <pc:docMk/>
            <pc:sldMk cId="3339032937" sldId="257"/>
            <ac:spMk id="4" creationId="{0E629F0F-3B8E-CBC9-2E5C-24785E868F9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90f61ad99a405dec/Desktop/data%20analyst/HighClouds/KPI%20-%2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[KPI - 1.xlsx]KPI - 6!PivotTable11</c:name>
    <c:fmtId val="17"/>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t>load factor on weekday and weekends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2"/>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3"/>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5"/>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8"/>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s>
    <c:plotArea>
      <c:layout/>
      <c:pieChart>
        <c:varyColors val="1"/>
        <c:dLbls>
          <c:dLblPos val="bestFit"/>
          <c:showLegendKey val="0"/>
          <c:showVal val="1"/>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0.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3F706929-CFA3-D9EB-BEFA-9C5BCEA882C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087325" cy="4858428"/>
        </a:xfrm>
        <a:prstGeom xmlns:a="http://schemas.openxmlformats.org/drawingml/2006/main" prst="rect">
          <a:avLst/>
        </a:prstGeom>
        <a:ln xmlns:a="http://schemas.openxmlformats.org/drawingml/2006/main">
          <a:noFill/>
        </a:ln>
        <a:effectLst xmlns:a="http://schemas.openxmlformats.org/drawingml/2006/main">
          <a:outerShdw blurRad="292100" dist="139700" dir="2700000" algn="tl" rotWithShape="0">
            <a:srgbClr val="333333">
              <a:alpha val="65000"/>
            </a:srgbClr>
          </a:outerShdw>
        </a:effectLst>
      </cdr:spPr>
    </cdr:pic>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3F95A1-28B7-4D4D-B47F-4461404B4A5F}"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371287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3F95A1-28B7-4D4D-B47F-4461404B4A5F}"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1488884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3F95A1-28B7-4D4D-B47F-4461404B4A5F}"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370332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3F95A1-28B7-4D4D-B47F-4461404B4A5F}"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919628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3F95A1-28B7-4D4D-B47F-4461404B4A5F}"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224380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3F95A1-28B7-4D4D-B47F-4461404B4A5F}"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3286760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F95A1-28B7-4D4D-B47F-4461404B4A5F}" type="datetimeFigureOut">
              <a:rPr lang="en-IN" smtClean="0"/>
              <a:t>03-01-2026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74495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3F95A1-28B7-4D4D-B47F-4461404B4A5F}"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2402232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3F95A1-28B7-4D4D-B47F-4461404B4A5F}"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393627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3F95A1-28B7-4D4D-B47F-4461404B4A5F}"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2710609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3F95A1-28B7-4D4D-B47F-4461404B4A5F}"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5A5F0A-0501-488B-A6D0-B85EB9B35897}" type="slidenum">
              <a:rPr lang="en-IN" smtClean="0"/>
              <a:t>‹#›</a:t>
            </a:fld>
            <a:endParaRPr lang="en-IN"/>
          </a:p>
        </p:txBody>
      </p:sp>
    </p:spTree>
    <p:extLst>
      <p:ext uri="{BB962C8B-B14F-4D97-AF65-F5344CB8AC3E}">
        <p14:creationId xmlns:p14="http://schemas.microsoft.com/office/powerpoint/2010/main" val="4074831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3F95A1-28B7-4D4D-B47F-4461404B4A5F}" type="datetimeFigureOut">
              <a:rPr lang="en-IN" smtClean="0"/>
              <a:t>03-01-2026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5A5F0A-0501-488B-A6D0-B85EB9B35897}" type="slidenum">
              <a:rPr lang="en-IN" smtClean="0"/>
              <a:t>‹#›</a:t>
            </a:fld>
            <a:endParaRPr lang="en-IN"/>
          </a:p>
        </p:txBody>
      </p:sp>
    </p:spTree>
    <p:extLst>
      <p:ext uri="{BB962C8B-B14F-4D97-AF65-F5344CB8AC3E}">
        <p14:creationId xmlns:p14="http://schemas.microsoft.com/office/powerpoint/2010/main" val="391413282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534EA-A262-13B3-42D4-E2C72DC4C554}"/>
              </a:ext>
            </a:extLst>
          </p:cNvPr>
          <p:cNvSpPr>
            <a:spLocks noGrp="1"/>
          </p:cNvSpPr>
          <p:nvPr>
            <p:ph type="title"/>
          </p:nvPr>
        </p:nvSpPr>
        <p:spPr>
          <a:xfrm>
            <a:off x="373726" y="485192"/>
            <a:ext cx="4864358" cy="2715207"/>
          </a:xfrm>
        </p:spPr>
        <p:txBody>
          <a:bodyPr>
            <a:noAutofit/>
          </a:bodyPr>
          <a:lstStyle/>
          <a:p>
            <a:pPr algn="ctr"/>
            <a:r>
              <a:rPr lang="en-IN" sz="3600" b="1" dirty="0">
                <a:latin typeface="Baskerville Old Face" panose="02020602080505020303" pitchFamily="18" charset="0"/>
              </a:rPr>
              <a:t>HIGH CLOUD AIRLINES</a:t>
            </a:r>
            <a:br>
              <a:rPr lang="en-IN" sz="3600" dirty="0">
                <a:latin typeface="Baskerville Old Face" panose="02020602080505020303" pitchFamily="18" charset="0"/>
              </a:rPr>
            </a:br>
            <a:r>
              <a:rPr lang="en-IN" sz="3600" dirty="0">
                <a:latin typeface="Baskerville Old Face" panose="02020602080505020303" pitchFamily="18" charset="0"/>
              </a:rPr>
              <a:t>DATA ANALYSIS </a:t>
            </a:r>
            <a:br>
              <a:rPr lang="en-IN" sz="3600" dirty="0">
                <a:latin typeface="Baskerville Old Face" panose="02020602080505020303" pitchFamily="18" charset="0"/>
              </a:rPr>
            </a:br>
            <a:r>
              <a:rPr lang="en-IN" sz="3600" dirty="0">
                <a:latin typeface="Baskerville Old Face" panose="02020602080505020303" pitchFamily="18" charset="0"/>
              </a:rPr>
              <a:t>PROJECT</a:t>
            </a:r>
          </a:p>
        </p:txBody>
      </p:sp>
      <p:pic>
        <p:nvPicPr>
          <p:cNvPr id="6" name="Picture Placeholder 5">
            <a:extLst>
              <a:ext uri="{FF2B5EF4-FFF2-40B4-BE49-F238E27FC236}">
                <a16:creationId xmlns:a16="http://schemas.microsoft.com/office/drawing/2014/main" id="{765DB2B2-2F58-AEF0-EB6A-8898E82E8DAA}"/>
              </a:ext>
              <a:ext uri="{C183D7F6-B498-43B3-948B-1728B52AA6E4}">
                <adec:decorative xmlns:adec="http://schemas.microsoft.com/office/drawing/2017/decorative" val="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20" r="863"/>
          <a:stretch/>
        </p:blipFill>
        <p:spPr>
          <a:xfrm>
            <a:off x="5458408" y="1129004"/>
            <a:ext cx="6410130" cy="473204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4" name="Text Placeholder 3">
            <a:extLst>
              <a:ext uri="{FF2B5EF4-FFF2-40B4-BE49-F238E27FC236}">
                <a16:creationId xmlns:a16="http://schemas.microsoft.com/office/drawing/2014/main" id="{0E629F0F-3B8E-CBC9-2E5C-24785E868F93}"/>
              </a:ext>
            </a:extLst>
          </p:cNvPr>
          <p:cNvSpPr>
            <a:spLocks noGrp="1"/>
          </p:cNvSpPr>
          <p:nvPr>
            <p:ph type="body" sz="half" idx="2"/>
          </p:nvPr>
        </p:nvSpPr>
        <p:spPr>
          <a:xfrm>
            <a:off x="839786" y="3321697"/>
            <a:ext cx="3932237" cy="4378027"/>
          </a:xfrm>
        </p:spPr>
        <p:txBody>
          <a:bodyPr>
            <a:normAutofit/>
          </a:bodyPr>
          <a:lstStyle/>
          <a:p>
            <a:pPr algn="ctr"/>
            <a:r>
              <a:rPr lang="en-IN" sz="2000" dirty="0"/>
              <a:t>Modules: Excel, SQL, Power BI, Tableau</a:t>
            </a:r>
          </a:p>
          <a:p>
            <a:r>
              <a:rPr lang="en-IN" sz="2000" b="1" u="sng" dirty="0"/>
              <a:t>Group – 1 </a:t>
            </a:r>
          </a:p>
          <a:p>
            <a:pPr marL="457200" indent="-457200">
              <a:buFont typeface="+mj-lt"/>
              <a:buAutoNum type="arabicPeriod"/>
            </a:pPr>
            <a:r>
              <a:rPr lang="en-IN" sz="2000" dirty="0" err="1"/>
              <a:t>Thanuj</a:t>
            </a:r>
            <a:r>
              <a:rPr lang="en-IN" sz="2000" dirty="0"/>
              <a:t> </a:t>
            </a:r>
          </a:p>
          <a:p>
            <a:pPr marL="457200" indent="-457200">
              <a:buFont typeface="+mj-lt"/>
              <a:buAutoNum type="arabicPeriod"/>
            </a:pPr>
            <a:r>
              <a:rPr lang="en-IN" sz="2000" dirty="0"/>
              <a:t>Sravan </a:t>
            </a:r>
          </a:p>
          <a:p>
            <a:pPr marL="457200" indent="-457200">
              <a:buFont typeface="+mj-lt"/>
              <a:buAutoNum type="arabicPeriod"/>
            </a:pPr>
            <a:r>
              <a:rPr lang="en-IN" sz="2000" dirty="0"/>
              <a:t>Yogesh</a:t>
            </a:r>
          </a:p>
          <a:p>
            <a:pPr marL="457200" indent="-457200">
              <a:buFont typeface="+mj-lt"/>
              <a:buAutoNum type="arabicPeriod"/>
            </a:pPr>
            <a:r>
              <a:rPr lang="en-IN" sz="2000" dirty="0"/>
              <a:t>Puneeth </a:t>
            </a:r>
          </a:p>
          <a:p>
            <a:pPr marL="457200" indent="-457200">
              <a:buFont typeface="+mj-lt"/>
              <a:buAutoNum type="arabicPeriod"/>
            </a:pPr>
            <a:r>
              <a:rPr lang="en-IN" sz="2000" dirty="0"/>
              <a:t>Ganesh</a:t>
            </a:r>
          </a:p>
          <a:p>
            <a:pPr marL="457200" indent="-457200">
              <a:buFont typeface="+mj-lt"/>
              <a:buAutoNum type="arabicPeriod"/>
            </a:pPr>
            <a:r>
              <a:rPr lang="en-IN" sz="2000" dirty="0" err="1"/>
              <a:t>Soharab</a:t>
            </a:r>
            <a:r>
              <a:rPr lang="en-IN" sz="2000" dirty="0"/>
              <a:t> Shaikh</a:t>
            </a:r>
          </a:p>
          <a:p>
            <a:pPr algn="ctr"/>
            <a:endParaRPr lang="en-IN" sz="2000" dirty="0"/>
          </a:p>
        </p:txBody>
      </p:sp>
    </p:spTree>
    <p:extLst>
      <p:ext uri="{BB962C8B-B14F-4D97-AF65-F5344CB8AC3E}">
        <p14:creationId xmlns:p14="http://schemas.microsoft.com/office/powerpoint/2010/main" val="3339032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3511-4766-8233-7E5A-6BDC30B86D09}"/>
              </a:ext>
            </a:extLst>
          </p:cNvPr>
          <p:cNvSpPr>
            <a:spLocks noGrp="1"/>
          </p:cNvSpPr>
          <p:nvPr>
            <p:ph type="title"/>
          </p:nvPr>
        </p:nvSpPr>
        <p:spPr>
          <a:xfrm>
            <a:off x="836612" y="2133364"/>
            <a:ext cx="3932237" cy="1600200"/>
          </a:xfrm>
        </p:spPr>
        <p:txBody>
          <a:bodyPr>
            <a:normAutofit/>
          </a:bodyPr>
          <a:lstStyle/>
          <a:p>
            <a:pPr algn="ctr"/>
            <a:r>
              <a:rPr lang="en-IN" sz="4800" dirty="0">
                <a:latin typeface="Baskerville Old Face" panose="02020602080505020303" pitchFamily="18" charset="0"/>
              </a:rPr>
              <a:t>CONTENTS</a:t>
            </a:r>
          </a:p>
        </p:txBody>
      </p:sp>
      <p:sp>
        <p:nvSpPr>
          <p:cNvPr id="3" name="Content Placeholder 2">
            <a:extLst>
              <a:ext uri="{FF2B5EF4-FFF2-40B4-BE49-F238E27FC236}">
                <a16:creationId xmlns:a16="http://schemas.microsoft.com/office/drawing/2014/main" id="{5E2F551B-A57C-DA32-85B2-261A0F299B20}"/>
              </a:ext>
            </a:extLst>
          </p:cNvPr>
          <p:cNvSpPr>
            <a:spLocks noGrp="1"/>
          </p:cNvSpPr>
          <p:nvPr>
            <p:ph idx="1"/>
          </p:nvPr>
        </p:nvSpPr>
        <p:spPr/>
        <p:txBody>
          <a:bodyPr>
            <a:noAutofit/>
          </a:bodyPr>
          <a:lstStyle/>
          <a:p>
            <a:pPr algn="just">
              <a:buFont typeface="Wingdings" panose="05000000000000000000" pitchFamily="2" charset="2"/>
              <a:buChar char="§"/>
            </a:pPr>
            <a:r>
              <a:rPr lang="en-IN" sz="2800" dirty="0">
                <a:latin typeface="Baskerville Old Face" panose="02020602080505020303" pitchFamily="18" charset="0"/>
              </a:rPr>
              <a:t>Introduction</a:t>
            </a:r>
          </a:p>
          <a:p>
            <a:pPr algn="just">
              <a:buFont typeface="Wingdings" panose="05000000000000000000" pitchFamily="2" charset="2"/>
              <a:buChar char="§"/>
            </a:pPr>
            <a:r>
              <a:rPr lang="en-IN" sz="2800" dirty="0">
                <a:latin typeface="Baskerville Old Face" panose="02020602080505020303" pitchFamily="18" charset="0"/>
              </a:rPr>
              <a:t>Objective</a:t>
            </a:r>
          </a:p>
          <a:p>
            <a:pPr algn="just">
              <a:buFont typeface="Wingdings" panose="05000000000000000000" pitchFamily="2" charset="2"/>
              <a:buChar char="§"/>
            </a:pPr>
            <a:r>
              <a:rPr lang="en-IN" sz="2800" dirty="0">
                <a:latin typeface="Baskerville Old Face" panose="02020602080505020303" pitchFamily="18" charset="0"/>
              </a:rPr>
              <a:t>Business Overview</a:t>
            </a:r>
          </a:p>
          <a:p>
            <a:pPr algn="just">
              <a:buFont typeface="Wingdings" panose="05000000000000000000" pitchFamily="2" charset="2"/>
              <a:buChar char="§"/>
            </a:pPr>
            <a:r>
              <a:rPr lang="en-IN" sz="2800" dirty="0">
                <a:latin typeface="Baskerville Old Face" panose="02020602080505020303" pitchFamily="18" charset="0"/>
              </a:rPr>
              <a:t>Project Scope </a:t>
            </a:r>
          </a:p>
          <a:p>
            <a:pPr algn="just">
              <a:buFont typeface="Wingdings" panose="05000000000000000000" pitchFamily="2" charset="2"/>
              <a:buChar char="§"/>
            </a:pPr>
            <a:r>
              <a:rPr lang="en-IN" sz="2800" dirty="0">
                <a:latin typeface="Baskerville Old Face" panose="02020602080505020303" pitchFamily="18" charset="0"/>
              </a:rPr>
              <a:t>Data Model Challenges</a:t>
            </a:r>
          </a:p>
          <a:p>
            <a:pPr algn="just">
              <a:buFont typeface="Wingdings" panose="05000000000000000000" pitchFamily="2" charset="2"/>
              <a:buChar char="§"/>
            </a:pPr>
            <a:r>
              <a:rPr lang="en-IN" sz="2800" dirty="0">
                <a:latin typeface="Baskerville Old Face" panose="02020602080505020303" pitchFamily="18" charset="0"/>
              </a:rPr>
              <a:t>KPI’s Analysis</a:t>
            </a:r>
          </a:p>
          <a:p>
            <a:pPr algn="just">
              <a:buFont typeface="Wingdings" panose="05000000000000000000" pitchFamily="2" charset="2"/>
              <a:buChar char="§"/>
            </a:pPr>
            <a:r>
              <a:rPr lang="en-IN" sz="2800" dirty="0">
                <a:latin typeface="Baskerville Old Face" panose="02020602080505020303" pitchFamily="18" charset="0"/>
              </a:rPr>
              <a:t>Dashboards</a:t>
            </a:r>
          </a:p>
          <a:p>
            <a:pPr algn="just">
              <a:buFont typeface="Wingdings" panose="05000000000000000000" pitchFamily="2" charset="2"/>
              <a:buChar char="§"/>
            </a:pPr>
            <a:r>
              <a:rPr lang="en-IN" sz="2800" dirty="0">
                <a:latin typeface="Baskerville Old Face" panose="02020602080505020303" pitchFamily="18" charset="0"/>
              </a:rPr>
              <a:t>Recommendations </a:t>
            </a:r>
          </a:p>
          <a:p>
            <a:pPr algn="just">
              <a:buFont typeface="Wingdings" panose="05000000000000000000" pitchFamily="2" charset="2"/>
              <a:buChar char="§"/>
            </a:pPr>
            <a:r>
              <a:rPr lang="en-IN" sz="2800" dirty="0">
                <a:latin typeface="Baskerville Old Face" panose="02020602080505020303" pitchFamily="18" charset="0"/>
              </a:rPr>
              <a:t>Conclusion</a:t>
            </a:r>
          </a:p>
        </p:txBody>
      </p:sp>
    </p:spTree>
    <p:extLst>
      <p:ext uri="{BB962C8B-B14F-4D97-AF65-F5344CB8AC3E}">
        <p14:creationId xmlns:p14="http://schemas.microsoft.com/office/powerpoint/2010/main" val="137530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2E900-EE84-8529-B634-98BFA6DD4FE4}"/>
              </a:ext>
            </a:extLst>
          </p:cNvPr>
          <p:cNvSpPr>
            <a:spLocks noGrp="1"/>
          </p:cNvSpPr>
          <p:nvPr>
            <p:ph type="title"/>
          </p:nvPr>
        </p:nvSpPr>
        <p:spPr>
          <a:xfrm>
            <a:off x="909264" y="250150"/>
            <a:ext cx="3932237" cy="530225"/>
          </a:xfrm>
        </p:spPr>
        <p:txBody>
          <a:bodyPr>
            <a:normAutofit fontScale="90000"/>
          </a:bodyPr>
          <a:lstStyle/>
          <a:p>
            <a:pPr algn="ctr"/>
            <a:r>
              <a:rPr lang="en-IN" sz="3600" dirty="0">
                <a:latin typeface="Baskerville Old Face" panose="02020602080505020303" pitchFamily="18" charset="0"/>
              </a:rPr>
              <a:t>INTRODUCTION</a:t>
            </a:r>
          </a:p>
        </p:txBody>
      </p:sp>
      <p:pic>
        <p:nvPicPr>
          <p:cNvPr id="9" name="Picture Placeholder 8" descr="A large white airplane on a runway&#10;&#10;AI-generated content may be incorrect.">
            <a:extLst>
              <a:ext uri="{FF2B5EF4-FFF2-40B4-BE49-F238E27FC236}">
                <a16:creationId xmlns:a16="http://schemas.microsoft.com/office/drawing/2014/main" id="{4B40D071-48DF-B9E5-2035-F6345D50ED47}"/>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8014" r="8014"/>
          <a:stretch>
            <a:fillRect/>
          </a:stretch>
        </p:blipFill>
        <p:spPr>
          <a:prstGeom prst="rect">
            <a:avLst/>
          </a:prstGeom>
          <a:ln>
            <a:noFill/>
          </a:ln>
          <a:effectLst>
            <a:outerShdw blurRad="292100" dist="139700" dir="2700000" algn="tl" rotWithShape="0">
              <a:srgbClr val="333333">
                <a:alpha val="65000"/>
              </a:srgbClr>
            </a:outerShdw>
          </a:effectLst>
        </p:spPr>
      </p:pic>
      <p:sp>
        <p:nvSpPr>
          <p:cNvPr id="7" name="Rectangle 1">
            <a:extLst>
              <a:ext uri="{FF2B5EF4-FFF2-40B4-BE49-F238E27FC236}">
                <a16:creationId xmlns:a16="http://schemas.microsoft.com/office/drawing/2014/main" id="{F4EAF0F5-9944-FF9C-DD2B-1653BC92930B}"/>
              </a:ext>
            </a:extLst>
          </p:cNvPr>
          <p:cNvSpPr>
            <a:spLocks noGrp="1" noChangeArrowheads="1"/>
          </p:cNvSpPr>
          <p:nvPr>
            <p:ph type="body" sz="half" idx="2"/>
          </p:nvPr>
        </p:nvSpPr>
        <p:spPr bwMode="auto">
          <a:xfrm>
            <a:off x="978742" y="987425"/>
            <a:ext cx="379328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High Cloud Airline is a leading organization in the aviation industry, focused on delivering efficient and reliable air travel experiences through data-driven decision-making.</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The company emphasizes operational excellence, safety, and customer satisfaction, consistently meeting industry standards.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With an extensive network of routes across multiple regions, High Cloud connects people and cultures worldwide.</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By leveraging modern technology and analytics, the airline continuously improves operational efficiency and enhances passenger experience.</a:t>
            </a:r>
          </a:p>
        </p:txBody>
      </p:sp>
    </p:spTree>
    <p:extLst>
      <p:ext uri="{BB962C8B-B14F-4D97-AF65-F5344CB8AC3E}">
        <p14:creationId xmlns:p14="http://schemas.microsoft.com/office/powerpoint/2010/main" val="1683199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5239-5892-ED99-0A20-978C307FE2D9}"/>
              </a:ext>
            </a:extLst>
          </p:cNvPr>
          <p:cNvSpPr>
            <a:spLocks noGrp="1"/>
          </p:cNvSpPr>
          <p:nvPr>
            <p:ph type="title"/>
          </p:nvPr>
        </p:nvSpPr>
        <p:spPr>
          <a:xfrm>
            <a:off x="838200" y="365126"/>
            <a:ext cx="10515600" cy="997144"/>
          </a:xfrm>
        </p:spPr>
        <p:txBody>
          <a:bodyPr>
            <a:normAutofit/>
          </a:bodyPr>
          <a:lstStyle/>
          <a:p>
            <a:pPr algn="ctr"/>
            <a:r>
              <a:rPr lang="en-IN" sz="5400" dirty="0">
                <a:latin typeface="Baskerville Old Face" panose="02020602080505020303" pitchFamily="18" charset="0"/>
              </a:rPr>
              <a:t>OBJECTIVE</a:t>
            </a:r>
          </a:p>
        </p:txBody>
      </p:sp>
      <p:sp>
        <p:nvSpPr>
          <p:cNvPr id="3" name="Content Placeholder 2">
            <a:extLst>
              <a:ext uri="{FF2B5EF4-FFF2-40B4-BE49-F238E27FC236}">
                <a16:creationId xmlns:a16="http://schemas.microsoft.com/office/drawing/2014/main" id="{97DD7AD9-E4D8-5DF5-C3C5-6CF39FDF848D}"/>
              </a:ext>
            </a:extLst>
          </p:cNvPr>
          <p:cNvSpPr>
            <a:spLocks noGrp="1"/>
          </p:cNvSpPr>
          <p:nvPr>
            <p:ph idx="1"/>
          </p:nvPr>
        </p:nvSpPr>
        <p:spPr>
          <a:xfrm>
            <a:off x="838200" y="1499054"/>
            <a:ext cx="10515600" cy="4351338"/>
          </a:xfrm>
        </p:spPr>
        <p:txBody>
          <a:bodyPr>
            <a:noAutofit/>
          </a:bodyPr>
          <a:lstStyle/>
          <a:p>
            <a:pPr marL="0" indent="0" algn="just">
              <a:buNone/>
            </a:pPr>
            <a:r>
              <a:rPr lang="en-US" sz="4000" dirty="0">
                <a:latin typeface="Baskerville Old Face" panose="02020602080505020303" pitchFamily="18" charset="0"/>
              </a:rPr>
              <a:t>To gain a comprehensive understanding of "High Cloud Airlines" operations through data analysis. This will involve investigating load factors, identifying top carrier names based on passenger preference, analyzing popular routes, and exploring other key metrics. The ultimate goal is to provide actionable recommendations that can enhance operational efficiency and profitability. </a:t>
            </a:r>
            <a:endParaRPr lang="en-IN" sz="4000" dirty="0">
              <a:latin typeface="Baskerville Old Face" panose="02020602080505020303" pitchFamily="18" charset="0"/>
            </a:endParaRPr>
          </a:p>
        </p:txBody>
      </p:sp>
    </p:spTree>
    <p:extLst>
      <p:ext uri="{BB962C8B-B14F-4D97-AF65-F5344CB8AC3E}">
        <p14:creationId xmlns:p14="http://schemas.microsoft.com/office/powerpoint/2010/main" val="3720107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FF75-DCBF-D3DD-CFFD-7B17A2D71145}"/>
              </a:ext>
            </a:extLst>
          </p:cNvPr>
          <p:cNvSpPr>
            <a:spLocks noGrp="1"/>
          </p:cNvSpPr>
          <p:nvPr>
            <p:ph type="title"/>
          </p:nvPr>
        </p:nvSpPr>
        <p:spPr>
          <a:xfrm>
            <a:off x="838200" y="365126"/>
            <a:ext cx="10515600" cy="894508"/>
          </a:xfrm>
        </p:spPr>
        <p:txBody>
          <a:bodyPr>
            <a:normAutofit/>
          </a:bodyPr>
          <a:lstStyle/>
          <a:p>
            <a:pPr algn="ctr"/>
            <a:r>
              <a:rPr lang="en-IN" dirty="0">
                <a:latin typeface="Baskerville Old Face" panose="02020602080505020303" pitchFamily="18" charset="0"/>
              </a:rPr>
              <a:t>BUSINESS OVERVIEW</a:t>
            </a:r>
          </a:p>
        </p:txBody>
      </p:sp>
      <p:sp>
        <p:nvSpPr>
          <p:cNvPr id="3" name="Content Placeholder 2">
            <a:extLst>
              <a:ext uri="{FF2B5EF4-FFF2-40B4-BE49-F238E27FC236}">
                <a16:creationId xmlns:a16="http://schemas.microsoft.com/office/drawing/2014/main" id="{EB9E8F09-902A-A029-74FD-82B736A662EB}"/>
              </a:ext>
            </a:extLst>
          </p:cNvPr>
          <p:cNvSpPr>
            <a:spLocks noGrp="1"/>
          </p:cNvSpPr>
          <p:nvPr>
            <p:ph idx="1"/>
          </p:nvPr>
        </p:nvSpPr>
        <p:spPr>
          <a:xfrm>
            <a:off x="838200" y="1595887"/>
            <a:ext cx="10515600" cy="4581076"/>
          </a:xfrm>
        </p:spPr>
        <p:txBody>
          <a:bodyPr>
            <a:noAutofit/>
          </a:bodyPr>
          <a:lstStyle/>
          <a:p>
            <a:pPr marL="0" indent="0">
              <a:buNone/>
            </a:pPr>
            <a:r>
              <a:rPr lang="en-US" sz="3600" dirty="0">
                <a:latin typeface="Baskerville Old Face" panose="02020602080505020303" pitchFamily="18" charset="0"/>
              </a:rPr>
              <a:t>Project Overview: In today’s competitive airline industry, data analysis plays a critical role in optimizing operations and maximizing profitability. By harnessing the power of data, High Cloud Airlines can gain valuable insights into various aspects of its business, allowing them to make data-driven decisions that can lead to Improved load factor Enhance Passenger Experience Optimized resource allocation Data –Driven Decision Making </a:t>
            </a:r>
            <a:endParaRPr lang="en-IN" sz="3600" dirty="0">
              <a:latin typeface="Baskerville Old Face" panose="02020602080505020303" pitchFamily="18" charset="0"/>
            </a:endParaRPr>
          </a:p>
        </p:txBody>
      </p:sp>
    </p:spTree>
    <p:extLst>
      <p:ext uri="{BB962C8B-B14F-4D97-AF65-F5344CB8AC3E}">
        <p14:creationId xmlns:p14="http://schemas.microsoft.com/office/powerpoint/2010/main" val="680594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24474-52B8-63D7-E3FD-2EA40F06E0B9}"/>
              </a:ext>
            </a:extLst>
          </p:cNvPr>
          <p:cNvSpPr>
            <a:spLocks noGrp="1"/>
          </p:cNvSpPr>
          <p:nvPr>
            <p:ph type="title"/>
          </p:nvPr>
        </p:nvSpPr>
        <p:spPr>
          <a:xfrm>
            <a:off x="838200" y="365126"/>
            <a:ext cx="10515600" cy="810532"/>
          </a:xfrm>
        </p:spPr>
        <p:txBody>
          <a:bodyPr/>
          <a:lstStyle/>
          <a:p>
            <a:pPr algn="ctr"/>
            <a:r>
              <a:rPr lang="en-IN" dirty="0">
                <a:latin typeface="Baskerville Old Face" panose="02020602080505020303" pitchFamily="18" charset="0"/>
              </a:rPr>
              <a:t>PROJECT SCOPE</a:t>
            </a:r>
          </a:p>
        </p:txBody>
      </p:sp>
      <p:sp>
        <p:nvSpPr>
          <p:cNvPr id="3" name="Content Placeholder 2">
            <a:extLst>
              <a:ext uri="{FF2B5EF4-FFF2-40B4-BE49-F238E27FC236}">
                <a16:creationId xmlns:a16="http://schemas.microsoft.com/office/drawing/2014/main" id="{F2897FF0-9CC1-241C-79CE-6C6221DF5D4C}"/>
              </a:ext>
            </a:extLst>
          </p:cNvPr>
          <p:cNvSpPr>
            <a:spLocks noGrp="1"/>
          </p:cNvSpPr>
          <p:nvPr>
            <p:ph idx="1"/>
          </p:nvPr>
        </p:nvSpPr>
        <p:spPr>
          <a:xfrm>
            <a:off x="838200" y="1250302"/>
            <a:ext cx="10515600" cy="4926661"/>
          </a:xfrm>
        </p:spPr>
        <p:txBody>
          <a:bodyPr>
            <a:noAutofit/>
          </a:bodyPr>
          <a:lstStyle/>
          <a:p>
            <a:pPr marL="0" indent="0">
              <a:buNone/>
            </a:pPr>
            <a:r>
              <a:rPr lang="en-US" sz="3600" dirty="0">
                <a:latin typeface="Baskerville Old Face" panose="02020602080505020303" pitchFamily="18" charset="0"/>
              </a:rPr>
              <a:t>The Project aimed to leverage the power of data analysis and extract valuable insights to optimize high cloud airline operations and performance. The specific scope of the project focused on analyzing key performance indicators (KPIs) to gain deeper understanding of</a:t>
            </a:r>
          </a:p>
          <a:p>
            <a:r>
              <a:rPr lang="en-US" sz="3600" dirty="0">
                <a:latin typeface="Baskerville Old Face" panose="02020602080505020303" pitchFamily="18" charset="0"/>
              </a:rPr>
              <a:t>Load Factor</a:t>
            </a:r>
          </a:p>
          <a:p>
            <a:r>
              <a:rPr lang="en-US" sz="3600" dirty="0">
                <a:latin typeface="Baskerville Old Face" panose="02020602080505020303" pitchFamily="18" charset="0"/>
              </a:rPr>
              <a:t>Passenger Preferences </a:t>
            </a:r>
          </a:p>
          <a:p>
            <a:r>
              <a:rPr lang="en-US" sz="3600" dirty="0">
                <a:latin typeface="Baskerville Old Face" panose="02020602080505020303" pitchFamily="18" charset="0"/>
              </a:rPr>
              <a:t>Popular Routes </a:t>
            </a:r>
          </a:p>
          <a:p>
            <a:r>
              <a:rPr lang="en-US" sz="3600" dirty="0">
                <a:latin typeface="Baskerville Old Face" panose="02020602080505020303" pitchFamily="18" charset="0"/>
              </a:rPr>
              <a:t>Operational Efficiency.</a:t>
            </a:r>
            <a:endParaRPr lang="en-IN" sz="3600" dirty="0">
              <a:latin typeface="Baskerville Old Face" panose="02020602080505020303" pitchFamily="18" charset="0"/>
            </a:endParaRPr>
          </a:p>
        </p:txBody>
      </p:sp>
    </p:spTree>
    <p:extLst>
      <p:ext uri="{BB962C8B-B14F-4D97-AF65-F5344CB8AC3E}">
        <p14:creationId xmlns:p14="http://schemas.microsoft.com/office/powerpoint/2010/main" val="4140195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482F-A144-8CFA-8117-C672C6765446}"/>
              </a:ext>
            </a:extLst>
          </p:cNvPr>
          <p:cNvSpPr>
            <a:spLocks noGrp="1"/>
          </p:cNvSpPr>
          <p:nvPr>
            <p:ph type="title"/>
          </p:nvPr>
        </p:nvSpPr>
        <p:spPr>
          <a:xfrm>
            <a:off x="838200" y="365126"/>
            <a:ext cx="10515600" cy="987814"/>
          </a:xfrm>
        </p:spPr>
        <p:txBody>
          <a:bodyPr/>
          <a:lstStyle/>
          <a:p>
            <a:pPr algn="ctr"/>
            <a:r>
              <a:rPr lang="en-IN" dirty="0">
                <a:latin typeface="Baskerville Old Face" panose="02020602080505020303" pitchFamily="18" charset="0"/>
              </a:rPr>
              <a:t>DATA MODEL CHALLENGES</a:t>
            </a:r>
          </a:p>
        </p:txBody>
      </p:sp>
      <p:sp>
        <p:nvSpPr>
          <p:cNvPr id="3" name="Content Placeholder 2">
            <a:extLst>
              <a:ext uri="{FF2B5EF4-FFF2-40B4-BE49-F238E27FC236}">
                <a16:creationId xmlns:a16="http://schemas.microsoft.com/office/drawing/2014/main" id="{9CF8630A-210D-A28D-6ECC-AF1145D1308B}"/>
              </a:ext>
            </a:extLst>
          </p:cNvPr>
          <p:cNvSpPr>
            <a:spLocks noGrp="1"/>
          </p:cNvSpPr>
          <p:nvPr>
            <p:ph idx="1"/>
          </p:nvPr>
        </p:nvSpPr>
        <p:spPr>
          <a:xfrm>
            <a:off x="838200" y="1449238"/>
            <a:ext cx="10515600" cy="4727725"/>
          </a:xfrm>
        </p:spPr>
        <p:txBody>
          <a:bodyPr>
            <a:normAutofit lnSpcReduction="10000"/>
          </a:bodyPr>
          <a:lstStyle/>
          <a:p>
            <a:pPr marL="0" indent="0">
              <a:buNone/>
            </a:pPr>
            <a:r>
              <a:rPr lang="en-US" sz="3200" dirty="0">
                <a:latin typeface="Baskerville Old Face" panose="02020602080505020303" pitchFamily="18" charset="0"/>
              </a:rPr>
              <a:t>Throughout our analysis, we encountered various challenges in handling the data.  Overcoming these challenges is crucial for accurate insights.</a:t>
            </a:r>
          </a:p>
          <a:p>
            <a:r>
              <a:rPr lang="en-US" sz="2400" dirty="0">
                <a:latin typeface="Baskerville Old Face" panose="02020602080505020303" pitchFamily="18" charset="0"/>
              </a:rPr>
              <a:t>Data Volume: Managing and Processing large datasets efficiently.</a:t>
            </a:r>
          </a:p>
          <a:p>
            <a:r>
              <a:rPr lang="en-US" sz="2400" dirty="0">
                <a:latin typeface="Baskerville Old Face" panose="02020602080505020303" pitchFamily="18" charset="0"/>
              </a:rPr>
              <a:t> Data Quality: Ensuring accuracy and reliability of the data. </a:t>
            </a:r>
          </a:p>
          <a:p>
            <a:r>
              <a:rPr lang="en-US" sz="2400" dirty="0">
                <a:latin typeface="Baskerville Old Face" panose="02020602080505020303" pitchFamily="18" charset="0"/>
              </a:rPr>
              <a:t>Complex Relationships: Establishing connections between different data points of the data. </a:t>
            </a:r>
          </a:p>
          <a:p>
            <a:r>
              <a:rPr lang="en-US" sz="2400" dirty="0">
                <a:latin typeface="Baskerville Old Face" panose="02020602080505020303" pitchFamily="18" charset="0"/>
              </a:rPr>
              <a:t>Errors and Duplicates: Cleaning data to fix incorrect values and remove duplicates.</a:t>
            </a:r>
          </a:p>
          <a:p>
            <a:r>
              <a:rPr lang="en-US" sz="2400" dirty="0">
                <a:latin typeface="Baskerville Old Face" panose="02020602080505020303" pitchFamily="18" charset="0"/>
              </a:rPr>
              <a:t>Data Merging: For Extracting Different </a:t>
            </a:r>
            <a:r>
              <a:rPr lang="en-US" sz="2400" dirty="0" err="1">
                <a:latin typeface="Baskerville Old Face" panose="02020602080505020303" pitchFamily="18" charset="0"/>
              </a:rPr>
              <a:t>kpi's</a:t>
            </a:r>
            <a:r>
              <a:rPr lang="en-US" sz="2400" dirty="0">
                <a:latin typeface="Baskerville Old Face" panose="02020602080505020303" pitchFamily="18" charset="0"/>
              </a:rPr>
              <a:t> we need to merge the datasets with the help of power query.</a:t>
            </a:r>
          </a:p>
          <a:p>
            <a:r>
              <a:rPr lang="en-US" sz="2400" dirty="0">
                <a:latin typeface="Baskerville Old Face" panose="02020602080505020303" pitchFamily="18" charset="0"/>
              </a:rPr>
              <a:t>Outliers: Flagging and handling unusual data for accuracy.</a:t>
            </a:r>
          </a:p>
          <a:p>
            <a:endParaRPr lang="en-US" sz="2400" dirty="0">
              <a:latin typeface="Baskerville Old Face" panose="02020602080505020303" pitchFamily="18" charset="0"/>
            </a:endParaRPr>
          </a:p>
        </p:txBody>
      </p:sp>
    </p:spTree>
    <p:extLst>
      <p:ext uri="{BB962C8B-B14F-4D97-AF65-F5344CB8AC3E}">
        <p14:creationId xmlns:p14="http://schemas.microsoft.com/office/powerpoint/2010/main" val="2233235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87BCB-FE93-CA53-9A1D-A7E3B7F8ECC1}"/>
              </a:ext>
            </a:extLst>
          </p:cNvPr>
          <p:cNvSpPr>
            <a:spLocks noGrp="1"/>
          </p:cNvSpPr>
          <p:nvPr>
            <p:ph type="title"/>
          </p:nvPr>
        </p:nvSpPr>
        <p:spPr>
          <a:xfrm>
            <a:off x="398224" y="1249069"/>
            <a:ext cx="4606505" cy="2760453"/>
          </a:xfrm>
        </p:spPr>
        <p:txBody>
          <a:bodyPr>
            <a:noAutofit/>
          </a:bodyPr>
          <a:lstStyle/>
          <a:p>
            <a:pPr algn="ctr"/>
            <a:r>
              <a:rPr lang="en-IN" sz="4400" dirty="0">
                <a:latin typeface="Baskerville Old Face" panose="02020602080505020303" pitchFamily="18" charset="0"/>
              </a:rPr>
              <a:t>KPI’s Analysis</a:t>
            </a:r>
            <a:br>
              <a:rPr lang="en-IN" sz="4400" dirty="0">
                <a:latin typeface="Baskerville Old Face" panose="02020602080505020303" pitchFamily="18" charset="0"/>
              </a:rPr>
            </a:br>
            <a:endParaRPr lang="en-IN" sz="4400" dirty="0">
              <a:latin typeface="Baskerville Old Face" panose="02020602080505020303" pitchFamily="18" charset="0"/>
            </a:endParaRPr>
          </a:p>
        </p:txBody>
      </p:sp>
      <p:pic>
        <p:nvPicPr>
          <p:cNvPr id="6" name="Picture Placeholder 5" descr="A plane flying in the sky&#10;&#10;AI-generated content may be incorrect.">
            <a:extLst>
              <a:ext uri="{FF2B5EF4-FFF2-40B4-BE49-F238E27FC236}">
                <a16:creationId xmlns:a16="http://schemas.microsoft.com/office/drawing/2014/main" id="{BEDCC608-AF58-2727-E6F0-277C63D8060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94" r="-766"/>
          <a:stretch/>
        </p:blipFill>
        <p:spPr>
          <a:xfrm>
            <a:off x="5215812" y="987426"/>
            <a:ext cx="6764694" cy="446697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6128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084A-6056-64C8-A9A5-2F1419A05793}"/>
              </a:ext>
            </a:extLst>
          </p:cNvPr>
          <p:cNvSpPr>
            <a:spLocks noGrp="1"/>
          </p:cNvSpPr>
          <p:nvPr>
            <p:ph type="title"/>
          </p:nvPr>
        </p:nvSpPr>
        <p:spPr>
          <a:xfrm>
            <a:off x="838200" y="276172"/>
            <a:ext cx="10515600" cy="1325563"/>
          </a:xfrm>
        </p:spPr>
        <p:txBody>
          <a:bodyPr>
            <a:normAutofit/>
          </a:bodyPr>
          <a:lstStyle/>
          <a:p>
            <a:pPr algn="ctr"/>
            <a:r>
              <a:rPr lang="en-US" dirty="0">
                <a:latin typeface="Baskerville Old Face" panose="02020602080505020303" pitchFamily="18" charset="0"/>
              </a:rPr>
              <a:t> Load Factor Percentage on a Yearly</a:t>
            </a:r>
            <a:endParaRPr lang="en-IN" dirty="0">
              <a:latin typeface="Baskerville Old Face" panose="02020602080505020303" pitchFamily="18" charset="0"/>
            </a:endParaRPr>
          </a:p>
        </p:txBody>
      </p:sp>
      <p:pic>
        <p:nvPicPr>
          <p:cNvPr id="6" name="Content Placeholder 5">
            <a:extLst>
              <a:ext uri="{FF2B5EF4-FFF2-40B4-BE49-F238E27FC236}">
                <a16:creationId xmlns:a16="http://schemas.microsoft.com/office/drawing/2014/main" id="{FA47724B-0791-F95C-6BD5-25FB50AF9B9A}"/>
              </a:ext>
            </a:extLst>
          </p:cNvPr>
          <p:cNvPicPr>
            <a:picLocks noGrp="1" noChangeAspect="1"/>
          </p:cNvPicPr>
          <p:nvPr>
            <p:ph sz="half" idx="1"/>
          </p:nvPr>
        </p:nvPicPr>
        <p:blipFill>
          <a:blip r:embed="rId2"/>
          <a:stretch>
            <a:fillRect/>
          </a:stretch>
        </p:blipFill>
        <p:spPr>
          <a:xfrm>
            <a:off x="838201" y="2159727"/>
            <a:ext cx="5010150" cy="3096538"/>
          </a:xfrm>
          <a:prstGeom prst="rect">
            <a:avLst/>
          </a:prstGeom>
          <a:ln>
            <a:noFill/>
          </a:ln>
          <a:effectLst>
            <a:outerShdw blurRad="292100" dist="139700" dir="2700000" algn="tl" rotWithShape="0">
              <a:srgbClr val="333333">
                <a:alpha val="65000"/>
              </a:srgbClr>
            </a:outerShdw>
          </a:effectLst>
        </p:spPr>
      </p:pic>
      <p:sp>
        <p:nvSpPr>
          <p:cNvPr id="12" name="Rectangle 5">
            <a:extLst>
              <a:ext uri="{FF2B5EF4-FFF2-40B4-BE49-F238E27FC236}">
                <a16:creationId xmlns:a16="http://schemas.microsoft.com/office/drawing/2014/main" id="{4D13C74E-7E8D-61D9-1960-41E617A6F698}"/>
              </a:ext>
            </a:extLst>
          </p:cNvPr>
          <p:cNvSpPr>
            <a:spLocks noGrp="1" noChangeArrowheads="1"/>
          </p:cNvSpPr>
          <p:nvPr>
            <p:ph sz="half" idx="2"/>
          </p:nvPr>
        </p:nvSpPr>
        <p:spPr bwMode="auto">
          <a:xfrm>
            <a:off x="6442981" y="1825762"/>
            <a:ext cx="482839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Load Factor indicates the percentage of available seats filled by passengers and reflects airline efficiency.</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From 2008 to 2009, the load factor remained stable at around 15.8%, showing consistent demand.</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A clear improvement started in 2010, increasing to 16.82%, and reached its peak in 2011 at 17.42%, indicating better seat utilization and higher passenger demand.</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In 2012, there was a minor dip to 16.87%, suggesting a temporary slowdown.</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The airline quickly recovered in 2013, reaching 17.40%, showing stability and sustained performance.</a:t>
            </a:r>
          </a:p>
        </p:txBody>
      </p:sp>
    </p:spTree>
    <p:extLst>
      <p:ext uri="{BB962C8B-B14F-4D97-AF65-F5344CB8AC3E}">
        <p14:creationId xmlns:p14="http://schemas.microsoft.com/office/powerpoint/2010/main" val="375322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3BB79-5817-9A9A-E8A2-332888808799}"/>
              </a:ext>
            </a:extLst>
          </p:cNvPr>
          <p:cNvSpPr>
            <a:spLocks noGrp="1"/>
          </p:cNvSpPr>
          <p:nvPr>
            <p:ph type="title"/>
          </p:nvPr>
        </p:nvSpPr>
        <p:spPr>
          <a:xfrm>
            <a:off x="838200" y="365126"/>
            <a:ext cx="10515600" cy="941384"/>
          </a:xfrm>
        </p:spPr>
        <p:txBody>
          <a:bodyPr/>
          <a:lstStyle/>
          <a:p>
            <a:pPr algn="ctr"/>
            <a:r>
              <a:rPr lang="en-US" dirty="0">
                <a:latin typeface="Baskerville Old Face" panose="02020602080505020303" pitchFamily="18" charset="0"/>
              </a:rPr>
              <a:t>Load Factor Percentage on a Quarterly</a:t>
            </a:r>
            <a:endParaRPr lang="en-IN" dirty="0"/>
          </a:p>
        </p:txBody>
      </p:sp>
      <p:pic>
        <p:nvPicPr>
          <p:cNvPr id="6" name="Content Placeholder 5">
            <a:extLst>
              <a:ext uri="{FF2B5EF4-FFF2-40B4-BE49-F238E27FC236}">
                <a16:creationId xmlns:a16="http://schemas.microsoft.com/office/drawing/2014/main" id="{EEFBC11F-5936-8C2C-B001-364B1A72B07C}"/>
              </a:ext>
            </a:extLst>
          </p:cNvPr>
          <p:cNvPicPr>
            <a:picLocks noGrp="1" noChangeAspect="1"/>
          </p:cNvPicPr>
          <p:nvPr>
            <p:ph sz="half" idx="2"/>
          </p:nvPr>
        </p:nvPicPr>
        <p:blipFill>
          <a:blip r:embed="rId2"/>
          <a:stretch>
            <a:fillRect/>
          </a:stretch>
        </p:blipFill>
        <p:spPr>
          <a:xfrm>
            <a:off x="6172200" y="2451096"/>
            <a:ext cx="5181600" cy="3100395"/>
          </a:xfrm>
          <a:prstGeom prst="rect">
            <a:avLst/>
          </a:prstGeom>
          <a:ln>
            <a:noFill/>
          </a:ln>
          <a:effectLst>
            <a:outerShdw blurRad="292100" dist="139700" dir="2700000" algn="tl" rotWithShape="0">
              <a:srgbClr val="333333">
                <a:alpha val="65000"/>
              </a:srgbClr>
            </a:outerShdw>
          </a:effectLst>
        </p:spPr>
      </p:pic>
      <p:sp>
        <p:nvSpPr>
          <p:cNvPr id="7" name="Rectangle 1">
            <a:extLst>
              <a:ext uri="{FF2B5EF4-FFF2-40B4-BE49-F238E27FC236}">
                <a16:creationId xmlns:a16="http://schemas.microsoft.com/office/drawing/2014/main" id="{472A0DDF-0A8A-90F6-FD5F-12EB615122D9}"/>
              </a:ext>
            </a:extLst>
          </p:cNvPr>
          <p:cNvSpPr>
            <a:spLocks noGrp="1" noChangeArrowheads="1"/>
          </p:cNvSpPr>
          <p:nvPr>
            <p:ph sz="half" idx="1"/>
          </p:nvPr>
        </p:nvSpPr>
        <p:spPr bwMode="auto">
          <a:xfrm>
            <a:off x="1063690" y="1788596"/>
            <a:ext cx="453467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The quarterly load factor analysis shows how seat occupancy varies across different quarters.</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Q1 recorded the lowest load factor at 23.41%, indicating relatively lower passenger demand.</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A significant improvement is observed in Q2, where the load factor increased to 25.68%, reflecting higher travel activity.</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The highest load factor is in Q3 at 26.31%, showing peak passenger demand and optimal seat utilization.</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In Q4, the load factor slightly declined to 24.60%, but remained higher than Q1, indicating stable performance.</a:t>
            </a:r>
          </a:p>
        </p:txBody>
      </p:sp>
    </p:spTree>
    <p:extLst>
      <p:ext uri="{BB962C8B-B14F-4D97-AF65-F5344CB8AC3E}">
        <p14:creationId xmlns:p14="http://schemas.microsoft.com/office/powerpoint/2010/main" val="1896845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3FF22-9E46-8B0A-7359-B005631B1785}"/>
              </a:ext>
            </a:extLst>
          </p:cNvPr>
          <p:cNvSpPr>
            <a:spLocks noGrp="1"/>
          </p:cNvSpPr>
          <p:nvPr>
            <p:ph type="title"/>
          </p:nvPr>
        </p:nvSpPr>
        <p:spPr>
          <a:xfrm>
            <a:off x="838200" y="365125"/>
            <a:ext cx="10515600" cy="670573"/>
          </a:xfrm>
        </p:spPr>
        <p:txBody>
          <a:bodyPr>
            <a:normAutofit fontScale="90000"/>
          </a:bodyPr>
          <a:lstStyle/>
          <a:p>
            <a:pPr algn="ctr"/>
            <a:r>
              <a:rPr lang="en-US" dirty="0">
                <a:latin typeface="Baskerville Old Face" panose="02020602080505020303" pitchFamily="18" charset="0"/>
              </a:rPr>
              <a:t>Load Factor Percentage on a Monthly </a:t>
            </a:r>
            <a:endParaRPr lang="en-IN" dirty="0"/>
          </a:p>
        </p:txBody>
      </p:sp>
      <p:pic>
        <p:nvPicPr>
          <p:cNvPr id="6" name="Content Placeholder 5">
            <a:extLst>
              <a:ext uri="{FF2B5EF4-FFF2-40B4-BE49-F238E27FC236}">
                <a16:creationId xmlns:a16="http://schemas.microsoft.com/office/drawing/2014/main" id="{C14F22CC-D8FA-E0EB-0411-E524634496CA}"/>
              </a:ext>
            </a:extLst>
          </p:cNvPr>
          <p:cNvPicPr>
            <a:picLocks noGrp="1" noChangeAspect="1"/>
          </p:cNvPicPr>
          <p:nvPr>
            <p:ph sz="half" idx="1"/>
          </p:nvPr>
        </p:nvPicPr>
        <p:blipFill>
          <a:blip r:embed="rId2"/>
          <a:stretch>
            <a:fillRect/>
          </a:stretch>
        </p:blipFill>
        <p:spPr>
          <a:xfrm>
            <a:off x="838200" y="2343080"/>
            <a:ext cx="5181600" cy="3316427"/>
          </a:xfrm>
        </p:spPr>
      </p:pic>
      <p:sp>
        <p:nvSpPr>
          <p:cNvPr id="7" name="Rectangle 1">
            <a:extLst>
              <a:ext uri="{FF2B5EF4-FFF2-40B4-BE49-F238E27FC236}">
                <a16:creationId xmlns:a16="http://schemas.microsoft.com/office/drawing/2014/main" id="{2D8E3909-1512-45C8-6E90-067EC9720816}"/>
              </a:ext>
            </a:extLst>
          </p:cNvPr>
          <p:cNvSpPr>
            <a:spLocks noGrp="1" noChangeArrowheads="1"/>
          </p:cNvSpPr>
          <p:nvPr>
            <p:ph sz="half" idx="2"/>
          </p:nvPr>
        </p:nvSpPr>
        <p:spPr bwMode="auto">
          <a:xfrm>
            <a:off x="6172200" y="1877636"/>
            <a:ext cx="48387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The monthly load factor analysis shows variations in seat occupancy across different months.</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The lowest load factor is observed in the early months, with January (7.61%) and February (7.57%), indicating lower passenger demand.</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From March to May, the load factor gradually increases.</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Peak performance is seen during June (9.05%), July (9.06%), and August (9.01%), reflecting highest passenger demand and optimal seat utilization.</a:t>
            </a:r>
          </a:p>
          <a:p>
            <a:pPr marR="0" lvl="0"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Baskerville Old Face" panose="02020602080505020303" pitchFamily="18" charset="0"/>
              </a:rPr>
              <a:t>After August, the load factor slightly declines from September to December, remaining stable around 8.18%–8.24%.</a:t>
            </a:r>
          </a:p>
        </p:txBody>
      </p:sp>
    </p:spTree>
    <p:extLst>
      <p:ext uri="{BB962C8B-B14F-4D97-AF65-F5344CB8AC3E}">
        <p14:creationId xmlns:p14="http://schemas.microsoft.com/office/powerpoint/2010/main" val="349156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62FEC-6CF8-7A90-3E2F-FDA9B62BD11D}"/>
              </a:ext>
            </a:extLst>
          </p:cNvPr>
          <p:cNvSpPr>
            <a:spLocks noGrp="1"/>
          </p:cNvSpPr>
          <p:nvPr>
            <p:ph type="title"/>
          </p:nvPr>
        </p:nvSpPr>
        <p:spPr/>
        <p:txBody>
          <a:bodyPr/>
          <a:lstStyle/>
          <a:p>
            <a:pPr algn="ctr"/>
            <a:r>
              <a:rPr lang="en-US" dirty="0">
                <a:latin typeface="Baskerville Old Face" panose="02020602080505020303" pitchFamily="18" charset="0"/>
              </a:rPr>
              <a:t>Load Factor Percentage on a Carrier Name Basis</a:t>
            </a:r>
            <a:endParaRPr lang="en-IN" dirty="0">
              <a:latin typeface="Baskerville Old Face" panose="02020602080505020303" pitchFamily="18" charset="0"/>
            </a:endParaRPr>
          </a:p>
        </p:txBody>
      </p:sp>
      <p:pic>
        <p:nvPicPr>
          <p:cNvPr id="6" name="Content Placeholder 5">
            <a:extLst>
              <a:ext uri="{FF2B5EF4-FFF2-40B4-BE49-F238E27FC236}">
                <a16:creationId xmlns:a16="http://schemas.microsoft.com/office/drawing/2014/main" id="{416D9C28-0076-5F84-36CF-057C5604E28A}"/>
              </a:ext>
            </a:extLst>
          </p:cNvPr>
          <p:cNvPicPr>
            <a:picLocks noGrp="1" noChangeAspect="1"/>
          </p:cNvPicPr>
          <p:nvPr>
            <p:ph sz="half" idx="1"/>
          </p:nvPr>
        </p:nvPicPr>
        <p:blipFill>
          <a:blip r:embed="rId2"/>
          <a:stretch>
            <a:fillRect/>
          </a:stretch>
        </p:blipFill>
        <p:spPr>
          <a:xfrm>
            <a:off x="838201" y="2482165"/>
            <a:ext cx="5181600" cy="2537926"/>
          </a:xfrm>
        </p:spPr>
      </p:pic>
      <p:sp>
        <p:nvSpPr>
          <p:cNvPr id="4" name="Content Placeholder 3">
            <a:extLst>
              <a:ext uri="{FF2B5EF4-FFF2-40B4-BE49-F238E27FC236}">
                <a16:creationId xmlns:a16="http://schemas.microsoft.com/office/drawing/2014/main" id="{F4EABDDB-86D8-03A2-DB2E-34A920F97BE8}"/>
              </a:ext>
            </a:extLst>
          </p:cNvPr>
          <p:cNvSpPr>
            <a:spLocks noGrp="1"/>
          </p:cNvSpPr>
          <p:nvPr>
            <p:ph sz="half" idx="2"/>
          </p:nvPr>
        </p:nvSpPr>
        <p:spPr/>
        <p:txBody>
          <a:bodyPr>
            <a:noAutofit/>
          </a:bodyPr>
          <a:lstStyle/>
          <a:p>
            <a:r>
              <a:rPr lang="en-US" sz="2000" dirty="0">
                <a:latin typeface="Baskerville Old Face" panose="02020602080505020303" pitchFamily="18" charset="0"/>
              </a:rPr>
              <a:t>Delta Air Lines Inc. leads with the highest load factor of 19.60%,</a:t>
            </a:r>
            <a:br>
              <a:rPr lang="en-US" sz="2000" dirty="0">
                <a:latin typeface="Baskerville Old Face" panose="02020602080505020303" pitchFamily="18" charset="0"/>
              </a:rPr>
            </a:br>
            <a:r>
              <a:rPr lang="en-US" sz="2000" dirty="0">
                <a:latin typeface="Baskerville Old Face" panose="02020602080505020303" pitchFamily="18" charset="0"/>
              </a:rPr>
              <a:t>showing strong passenger traffic and efficient capacity utilization across its routes.</a:t>
            </a:r>
          </a:p>
          <a:p>
            <a:r>
              <a:rPr lang="en-US" sz="2000" dirty="0">
                <a:latin typeface="Baskerville Old Face" panose="02020602080505020303" pitchFamily="18" charset="0"/>
              </a:rPr>
              <a:t>Southwest Airlines Co. follows closely with 18.92%,</a:t>
            </a:r>
            <a:br>
              <a:rPr lang="en-US" sz="2000" dirty="0">
                <a:latin typeface="Baskerville Old Face" panose="02020602080505020303" pitchFamily="18" charset="0"/>
              </a:rPr>
            </a:br>
            <a:r>
              <a:rPr lang="en-US" sz="2000" dirty="0">
                <a:latin typeface="Baskerville Old Face" panose="02020602080505020303" pitchFamily="18" charset="0"/>
              </a:rPr>
              <a:t>indicating a consistently high demand and reflecting the carrier’s strong market presence.</a:t>
            </a:r>
          </a:p>
          <a:p>
            <a:r>
              <a:rPr lang="en-US" sz="2000" dirty="0">
                <a:latin typeface="Baskerville Old Face" panose="02020602080505020303" pitchFamily="18" charset="0"/>
              </a:rPr>
              <a:t>Continental Air Lines Inc. (11.46%) and US Airways Inc. (10.64%)</a:t>
            </a:r>
            <a:br>
              <a:rPr lang="en-US" sz="2000" dirty="0">
                <a:latin typeface="Baskerville Old Face" panose="02020602080505020303" pitchFamily="18" charset="0"/>
              </a:rPr>
            </a:br>
            <a:r>
              <a:rPr lang="en-US" sz="2000" dirty="0">
                <a:latin typeface="Baskerville Old Face" panose="02020602080505020303" pitchFamily="18" charset="0"/>
              </a:rPr>
              <a:t>maintain mid-range performance, while airlines like Allegiant Air (5.05%) and Atlantic Southeast Airlines (5.31%) occupy the lower end of the top 10.</a:t>
            </a:r>
          </a:p>
          <a:p>
            <a:endParaRPr lang="en-IN" sz="2000" dirty="0">
              <a:latin typeface="Baskerville Old Face" panose="02020602080505020303" pitchFamily="18" charset="0"/>
            </a:endParaRPr>
          </a:p>
        </p:txBody>
      </p:sp>
    </p:spTree>
    <p:extLst>
      <p:ext uri="{BB962C8B-B14F-4D97-AF65-F5344CB8AC3E}">
        <p14:creationId xmlns:p14="http://schemas.microsoft.com/office/powerpoint/2010/main" val="2435007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0122B-5A06-3C0F-EEA8-6A2CACC291BE}"/>
              </a:ext>
            </a:extLst>
          </p:cNvPr>
          <p:cNvSpPr>
            <a:spLocks noGrp="1"/>
          </p:cNvSpPr>
          <p:nvPr>
            <p:ph type="title"/>
          </p:nvPr>
        </p:nvSpPr>
        <p:spPr/>
        <p:txBody>
          <a:bodyPr/>
          <a:lstStyle/>
          <a:p>
            <a:pPr algn="ctr"/>
            <a:r>
              <a:rPr lang="en-US" dirty="0">
                <a:latin typeface="Baskerville Old Face" panose="02020602080505020303" pitchFamily="18" charset="0"/>
              </a:rPr>
              <a:t>Top 10 Carrier Names Based on Passengers Preference</a:t>
            </a:r>
            <a:endParaRPr lang="en-IN" dirty="0">
              <a:latin typeface="Baskerville Old Face" panose="02020602080505020303" pitchFamily="18" charset="0"/>
            </a:endParaRPr>
          </a:p>
        </p:txBody>
      </p:sp>
      <p:pic>
        <p:nvPicPr>
          <p:cNvPr id="7" name="Content Placeholder 6">
            <a:extLst>
              <a:ext uri="{FF2B5EF4-FFF2-40B4-BE49-F238E27FC236}">
                <a16:creationId xmlns:a16="http://schemas.microsoft.com/office/drawing/2014/main" id="{32849F76-78DC-53C3-891E-499F2F2B1C6E}"/>
              </a:ext>
            </a:extLst>
          </p:cNvPr>
          <p:cNvPicPr>
            <a:picLocks noGrp="1" noChangeAspect="1"/>
          </p:cNvPicPr>
          <p:nvPr>
            <p:ph sz="half" idx="1"/>
          </p:nvPr>
        </p:nvPicPr>
        <p:blipFill>
          <a:blip r:embed="rId2"/>
          <a:stretch>
            <a:fillRect/>
          </a:stretch>
        </p:blipFill>
        <p:spPr>
          <a:xfrm>
            <a:off x="838200" y="2707335"/>
            <a:ext cx="5181600" cy="2587918"/>
          </a:xfrm>
          <a:prstGeom prst="rect">
            <a:avLst/>
          </a:prstGeom>
          <a:ln>
            <a:noFill/>
          </a:ln>
          <a:effectLst>
            <a:outerShdw blurRad="292100" dist="139700" dir="2700000" algn="tl" rotWithShape="0">
              <a:srgbClr val="333333">
                <a:alpha val="65000"/>
              </a:srgbClr>
            </a:outerShdw>
          </a:effectLst>
        </p:spPr>
      </p:pic>
      <p:sp>
        <p:nvSpPr>
          <p:cNvPr id="4" name="Content Placeholder 3">
            <a:extLst>
              <a:ext uri="{FF2B5EF4-FFF2-40B4-BE49-F238E27FC236}">
                <a16:creationId xmlns:a16="http://schemas.microsoft.com/office/drawing/2014/main" id="{18FA6A9E-CA69-16E9-88FB-423EF5AAC88F}"/>
              </a:ext>
            </a:extLst>
          </p:cNvPr>
          <p:cNvSpPr>
            <a:spLocks noGrp="1"/>
          </p:cNvSpPr>
          <p:nvPr>
            <p:ph sz="half" idx="2"/>
          </p:nvPr>
        </p:nvSpPr>
        <p:spPr/>
        <p:txBody>
          <a:bodyPr>
            <a:noAutofit/>
          </a:bodyPr>
          <a:lstStyle/>
          <a:p>
            <a:r>
              <a:rPr lang="en-US" sz="2000" dirty="0">
                <a:latin typeface="Baskerville Old Face" panose="02020602080505020303" pitchFamily="18" charset="0"/>
              </a:rPr>
              <a:t>Delta Air Lines Inc. has the highest passenger count of 8271, making it the most preferred airline among the top 10 carriers shown. This indicates strong customer demand and route popularity.</a:t>
            </a:r>
          </a:p>
          <a:p>
            <a:r>
              <a:rPr lang="en-US" sz="2000" dirty="0">
                <a:latin typeface="Baskerville Old Face" panose="02020602080505020303" pitchFamily="18" charset="0"/>
              </a:rPr>
              <a:t>Southwest Airlines Co. follows closely with 8019 passengers, showing it is nearly as popular as Delta Air Lines Inc. and remains one of the top choices for travelers.</a:t>
            </a:r>
          </a:p>
          <a:p>
            <a:r>
              <a:rPr lang="en-US" sz="2000" dirty="0">
                <a:latin typeface="Baskerville Old Face" panose="02020602080505020303" pitchFamily="18" charset="0"/>
              </a:rPr>
              <a:t>There is a large disparity between the top and bottom carriers. Delta Air Lines Inc. leads by a significant margin, having nearly 3× more passengers than several lower-ranked airlines. This clearly shows a concentration of passenger preference toward the top two carriers.</a:t>
            </a:r>
            <a:endParaRPr lang="en-IN" sz="2000" dirty="0">
              <a:latin typeface="Baskerville Old Face" panose="02020602080505020303" pitchFamily="18" charset="0"/>
            </a:endParaRPr>
          </a:p>
        </p:txBody>
      </p:sp>
    </p:spTree>
    <p:extLst>
      <p:ext uri="{BB962C8B-B14F-4D97-AF65-F5344CB8AC3E}">
        <p14:creationId xmlns:p14="http://schemas.microsoft.com/office/powerpoint/2010/main" val="2565079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B9F9-9F8A-FD7F-2689-4E6B8D41DF48}"/>
              </a:ext>
            </a:extLst>
          </p:cNvPr>
          <p:cNvSpPr>
            <a:spLocks noGrp="1"/>
          </p:cNvSpPr>
          <p:nvPr>
            <p:ph type="title"/>
          </p:nvPr>
        </p:nvSpPr>
        <p:spPr>
          <a:xfrm>
            <a:off x="838200" y="365125"/>
            <a:ext cx="10515600" cy="1071789"/>
          </a:xfrm>
        </p:spPr>
        <p:txBody>
          <a:bodyPr>
            <a:normAutofit fontScale="90000"/>
          </a:bodyPr>
          <a:lstStyle/>
          <a:p>
            <a:pPr algn="ctr"/>
            <a:r>
              <a:rPr lang="en-US" dirty="0">
                <a:latin typeface="Baskerville Old Face" panose="02020602080505020303" pitchFamily="18" charset="0"/>
              </a:rPr>
              <a:t>Display Top 10 Routes Based on Number of Flight</a:t>
            </a:r>
            <a:endParaRPr lang="en-IN" dirty="0">
              <a:latin typeface="Baskerville Old Face" panose="02020602080505020303" pitchFamily="18" charset="0"/>
            </a:endParaRPr>
          </a:p>
        </p:txBody>
      </p:sp>
      <p:pic>
        <p:nvPicPr>
          <p:cNvPr id="6" name="Content Placeholder 5">
            <a:extLst>
              <a:ext uri="{FF2B5EF4-FFF2-40B4-BE49-F238E27FC236}">
                <a16:creationId xmlns:a16="http://schemas.microsoft.com/office/drawing/2014/main" id="{C5B490E5-3EDD-DDE5-97F6-943A0E7071A2}"/>
              </a:ext>
            </a:extLst>
          </p:cNvPr>
          <p:cNvPicPr>
            <a:picLocks noGrp="1" noChangeAspect="1"/>
          </p:cNvPicPr>
          <p:nvPr>
            <p:ph sz="half" idx="1"/>
          </p:nvPr>
        </p:nvPicPr>
        <p:blipFill>
          <a:blip r:embed="rId2"/>
          <a:stretch>
            <a:fillRect/>
          </a:stretch>
        </p:blipFill>
        <p:spPr>
          <a:xfrm>
            <a:off x="838200" y="2826447"/>
            <a:ext cx="5181600" cy="2144419"/>
          </a:xfrm>
          <a:prstGeom prst="rect">
            <a:avLst/>
          </a:prstGeom>
          <a:ln>
            <a:noFill/>
          </a:ln>
          <a:effectLst>
            <a:outerShdw blurRad="292100" dist="139700" dir="2700000" algn="tl" rotWithShape="0">
              <a:srgbClr val="333333">
                <a:alpha val="65000"/>
              </a:srgbClr>
            </a:outerShdw>
          </a:effectLst>
        </p:spPr>
      </p:pic>
      <p:sp>
        <p:nvSpPr>
          <p:cNvPr id="4" name="Content Placeholder 3">
            <a:extLst>
              <a:ext uri="{FF2B5EF4-FFF2-40B4-BE49-F238E27FC236}">
                <a16:creationId xmlns:a16="http://schemas.microsoft.com/office/drawing/2014/main" id="{9F24FDA0-8F05-3B46-2D68-1A461E343F04}"/>
              </a:ext>
            </a:extLst>
          </p:cNvPr>
          <p:cNvSpPr>
            <a:spLocks noGrp="1"/>
          </p:cNvSpPr>
          <p:nvPr>
            <p:ph sz="half" idx="2"/>
          </p:nvPr>
        </p:nvSpPr>
        <p:spPr/>
        <p:txBody>
          <a:bodyPr>
            <a:normAutofit/>
          </a:bodyPr>
          <a:lstStyle/>
          <a:p>
            <a:r>
              <a:rPr lang="en-US" sz="2000" dirty="0">
                <a:latin typeface="Baskerville Old Face" panose="02020602080505020303" pitchFamily="18" charset="0"/>
              </a:rPr>
              <a:t>This bar chart highlights the top 10 most frequently flown routes, ranked based on the total number of flights operated between city pairs.</a:t>
            </a:r>
          </a:p>
          <a:p>
            <a:r>
              <a:rPr lang="en-US" sz="2000" dirty="0">
                <a:latin typeface="Baskerville Old Face" panose="02020602080505020303" pitchFamily="18" charset="0"/>
              </a:rPr>
              <a:t>The most popular route is Chicago, IL → Detroit, MI with 95 flights, showing a strong travel connection between these two major cities and making it the highest-frequency route among the top 10.</a:t>
            </a:r>
          </a:p>
          <a:p>
            <a:r>
              <a:rPr lang="en-US" sz="2000" dirty="0">
                <a:latin typeface="Baskerville Old Face" panose="02020602080505020303" pitchFamily="18" charset="0"/>
              </a:rPr>
              <a:t>The data suggests that major U.S. cities like Chicago, Atlanta, Washington DC, and New York dominate the air travel network, forming highly active flight corridors across the country.</a:t>
            </a:r>
          </a:p>
          <a:p>
            <a:endParaRPr lang="en-IN" sz="2000" dirty="0">
              <a:latin typeface="Baskerville Old Face" panose="02020602080505020303" pitchFamily="18" charset="0"/>
            </a:endParaRPr>
          </a:p>
        </p:txBody>
      </p:sp>
    </p:spTree>
    <p:extLst>
      <p:ext uri="{BB962C8B-B14F-4D97-AF65-F5344CB8AC3E}">
        <p14:creationId xmlns:p14="http://schemas.microsoft.com/office/powerpoint/2010/main" val="849041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698D-3BC7-4DF9-5DCB-6F36DB42D97F}"/>
              </a:ext>
            </a:extLst>
          </p:cNvPr>
          <p:cNvSpPr>
            <a:spLocks noGrp="1"/>
          </p:cNvSpPr>
          <p:nvPr>
            <p:ph type="title"/>
          </p:nvPr>
        </p:nvSpPr>
        <p:spPr/>
        <p:txBody>
          <a:bodyPr/>
          <a:lstStyle/>
          <a:p>
            <a:pPr algn="ctr"/>
            <a:r>
              <a:rPr lang="en-US" dirty="0">
                <a:latin typeface="Baskerville Old Face" panose="02020602080505020303" pitchFamily="18" charset="0"/>
              </a:rPr>
              <a:t>Load Factor is occupied on Weekend vs Weekdays.</a:t>
            </a:r>
            <a:endParaRPr lang="en-IN" dirty="0">
              <a:latin typeface="Baskerville Old Face" panose="02020602080505020303" pitchFamily="18" charset="0"/>
            </a:endParaRPr>
          </a:p>
        </p:txBody>
      </p:sp>
      <p:sp>
        <p:nvSpPr>
          <p:cNvPr id="4" name="Content Placeholder 3">
            <a:extLst>
              <a:ext uri="{FF2B5EF4-FFF2-40B4-BE49-F238E27FC236}">
                <a16:creationId xmlns:a16="http://schemas.microsoft.com/office/drawing/2014/main" id="{627EE27F-541B-6F57-AC42-52070055B707}"/>
              </a:ext>
            </a:extLst>
          </p:cNvPr>
          <p:cNvSpPr>
            <a:spLocks noGrp="1"/>
          </p:cNvSpPr>
          <p:nvPr>
            <p:ph sz="half" idx="2"/>
          </p:nvPr>
        </p:nvSpPr>
        <p:spPr/>
        <p:txBody>
          <a:bodyPr>
            <a:noAutofit/>
          </a:bodyPr>
          <a:lstStyle/>
          <a:p>
            <a:r>
              <a:rPr lang="en-US" sz="2000" dirty="0">
                <a:latin typeface="Baskerville Old Face" panose="02020602080505020303" pitchFamily="18" charset="0"/>
              </a:rPr>
              <a:t>The pie chart shows that the load factor is occupied on Weekdays 71.18% of the time and on Weekends 28.82% of the time. </a:t>
            </a:r>
          </a:p>
          <a:p>
            <a:r>
              <a:rPr lang="en-US" sz="2000" dirty="0">
                <a:latin typeface="Baskerville Old Face" panose="02020602080505020303" pitchFamily="18" charset="0"/>
              </a:rPr>
              <a:t>This suggests that the load factor is more heavily used during the week, possibly due to factors such as business hours or school schedules. </a:t>
            </a:r>
          </a:p>
          <a:p>
            <a:r>
              <a:rPr lang="en-US" sz="2000" dirty="0">
                <a:latin typeface="Baskerville Old Face" panose="02020602080505020303" pitchFamily="18" charset="0"/>
              </a:rPr>
              <a:t> It is worth noting that the Weekday load factor is more than double the Weekend load factor. Further investigation could be conducted to determine the reason for this disparity. </a:t>
            </a:r>
          </a:p>
          <a:p>
            <a:r>
              <a:rPr lang="en-US" sz="2000" dirty="0">
                <a:latin typeface="Baskerville Old Face" panose="02020602080505020303" pitchFamily="18" charset="0"/>
              </a:rPr>
              <a:t> This could include an analysis of the specific hours during the week and weekend when the load factor is being used, as well as any seasonal or cyclical patterns that might be present.</a:t>
            </a:r>
            <a:endParaRPr lang="en-IN" sz="2000" dirty="0">
              <a:latin typeface="Baskerville Old Face" panose="02020602080505020303" pitchFamily="18" charset="0"/>
            </a:endParaRPr>
          </a:p>
        </p:txBody>
      </p:sp>
      <p:graphicFrame>
        <p:nvGraphicFramePr>
          <p:cNvPr id="5" name="Content Placeholder 4">
            <a:extLst>
              <a:ext uri="{FF2B5EF4-FFF2-40B4-BE49-F238E27FC236}">
                <a16:creationId xmlns:a16="http://schemas.microsoft.com/office/drawing/2014/main" id="{767A50AD-282D-FC1B-5BD3-480E03017247}"/>
              </a:ext>
            </a:extLst>
          </p:cNvPr>
          <p:cNvGraphicFramePr>
            <a:graphicFrameLocks noGrp="1"/>
          </p:cNvGraphicFramePr>
          <p:nvPr>
            <p:ph sz="half" idx="1"/>
            <p:extLst>
              <p:ext uri="{D42A27DB-BD31-4B8C-83A1-F6EECF244321}">
                <p14:modId xmlns:p14="http://schemas.microsoft.com/office/powerpoint/2010/main" val="82331045"/>
              </p:ext>
            </p:extLst>
          </p:nvPr>
        </p:nvGraphicFramePr>
        <p:xfrm>
          <a:off x="838200" y="2024743"/>
          <a:ext cx="5181600" cy="41522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07987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DB7A-A870-1038-7A48-F9E6724D9FAF}"/>
              </a:ext>
            </a:extLst>
          </p:cNvPr>
          <p:cNvSpPr>
            <a:spLocks noGrp="1"/>
          </p:cNvSpPr>
          <p:nvPr>
            <p:ph type="title"/>
          </p:nvPr>
        </p:nvSpPr>
        <p:spPr/>
        <p:txBody>
          <a:bodyPr/>
          <a:lstStyle/>
          <a:p>
            <a:pPr algn="ctr"/>
            <a:r>
              <a:rPr lang="en-US" dirty="0">
                <a:latin typeface="Baskerville Old Face" panose="02020602080505020303" pitchFamily="18" charset="0"/>
              </a:rPr>
              <a:t>Identify number of flights based on Distance group</a:t>
            </a:r>
            <a:endParaRPr lang="en-IN" dirty="0">
              <a:latin typeface="Baskerville Old Face" panose="02020602080505020303" pitchFamily="18" charset="0"/>
            </a:endParaRPr>
          </a:p>
        </p:txBody>
      </p:sp>
      <p:pic>
        <p:nvPicPr>
          <p:cNvPr id="6" name="Content Placeholder 5">
            <a:extLst>
              <a:ext uri="{FF2B5EF4-FFF2-40B4-BE49-F238E27FC236}">
                <a16:creationId xmlns:a16="http://schemas.microsoft.com/office/drawing/2014/main" id="{C9220536-2701-01D9-7F9C-A0C2C5B74D43}"/>
              </a:ext>
            </a:extLst>
          </p:cNvPr>
          <p:cNvPicPr>
            <a:picLocks noGrp="1" noChangeAspect="1"/>
          </p:cNvPicPr>
          <p:nvPr>
            <p:ph sz="half" idx="1"/>
          </p:nvPr>
        </p:nvPicPr>
        <p:blipFill>
          <a:blip r:embed="rId2"/>
          <a:stretch>
            <a:fillRect/>
          </a:stretch>
        </p:blipFill>
        <p:spPr>
          <a:xfrm>
            <a:off x="838200" y="1996751"/>
            <a:ext cx="5181600" cy="4049312"/>
          </a:xfrm>
          <a:prstGeom prst="rect">
            <a:avLst/>
          </a:prstGeom>
          <a:ln>
            <a:noFill/>
          </a:ln>
          <a:effectLst>
            <a:outerShdw blurRad="292100" dist="139700" dir="2700000" algn="tl" rotWithShape="0">
              <a:srgbClr val="333333">
                <a:alpha val="65000"/>
              </a:srgbClr>
            </a:outerShdw>
          </a:effectLst>
        </p:spPr>
      </p:pic>
      <p:sp>
        <p:nvSpPr>
          <p:cNvPr id="4" name="Content Placeholder 3">
            <a:extLst>
              <a:ext uri="{FF2B5EF4-FFF2-40B4-BE49-F238E27FC236}">
                <a16:creationId xmlns:a16="http://schemas.microsoft.com/office/drawing/2014/main" id="{EAC08DB9-BA8B-E7A9-9447-424A6A599EF8}"/>
              </a:ext>
            </a:extLst>
          </p:cNvPr>
          <p:cNvSpPr>
            <a:spLocks noGrp="1"/>
          </p:cNvSpPr>
          <p:nvPr>
            <p:ph sz="half" idx="2"/>
          </p:nvPr>
        </p:nvSpPr>
        <p:spPr/>
        <p:txBody>
          <a:bodyPr>
            <a:noAutofit/>
          </a:bodyPr>
          <a:lstStyle/>
          <a:p>
            <a:pPr>
              <a:buFont typeface="Wingdings" panose="05000000000000000000" pitchFamily="2" charset="2"/>
              <a:buChar char="Ø"/>
            </a:pPr>
            <a:r>
              <a:rPr lang="en-US" sz="1400" dirty="0">
                <a:latin typeface="Baskerville Old Face" panose="02020602080505020303" pitchFamily="18" charset="0"/>
              </a:rPr>
              <a:t>This KPI shows the number of flights based on distance group. We can see that the number of flights decreases as the distance increases. This is likely because: </a:t>
            </a:r>
          </a:p>
          <a:p>
            <a:r>
              <a:rPr lang="en-US" sz="1400" dirty="0">
                <a:latin typeface="Baskerville Old Face" panose="02020602080505020303" pitchFamily="18" charset="0"/>
              </a:rPr>
              <a:t>Shorter flights are more common: People are more likely to             take shorter flights for business trips, leisure travel, or visiting family and friends. </a:t>
            </a:r>
          </a:p>
          <a:p>
            <a:r>
              <a:rPr lang="en-US" sz="1400" dirty="0">
                <a:latin typeface="Baskerville Old Face" panose="02020602080505020303" pitchFamily="18" charset="0"/>
              </a:rPr>
              <a:t>Cost: Longer flights are more expensive, both for airlines and passengers. </a:t>
            </a:r>
          </a:p>
          <a:p>
            <a:r>
              <a:rPr lang="en-US" sz="1400" dirty="0">
                <a:latin typeface="Baskerville Old Face" panose="02020602080505020303" pitchFamily="18" charset="0"/>
              </a:rPr>
              <a:t>Time: Longer flights take more time, which can be a deterrent for some travelers. </a:t>
            </a:r>
          </a:p>
          <a:p>
            <a:pPr>
              <a:buFont typeface="Wingdings" panose="05000000000000000000" pitchFamily="2" charset="2"/>
              <a:buChar char="Ø"/>
            </a:pPr>
            <a:r>
              <a:rPr lang="en-US" sz="1400" dirty="0">
                <a:latin typeface="Baskerville Old Face" panose="02020602080505020303" pitchFamily="18" charset="0"/>
              </a:rPr>
              <a:t>The data also shows that the number of flights drops off sharply after 1,000 miles, and continues to decline at a more gradual rate. This suggests that there are more factors at play than just the distance itself. For example, there may be fewer destinations that are further away, or there may be more competition from other transportation modes such as trains or buses. </a:t>
            </a:r>
          </a:p>
          <a:p>
            <a:pPr>
              <a:buFont typeface="Wingdings" panose="05000000000000000000" pitchFamily="2" charset="2"/>
              <a:buChar char="Ø"/>
            </a:pPr>
            <a:r>
              <a:rPr lang="en-US" sz="1400" dirty="0">
                <a:latin typeface="Baskerville Old Face" panose="02020602080505020303" pitchFamily="18" charset="0"/>
              </a:rPr>
              <a:t> Overall, this data provides insights into the travel patterns of people, and how these patterns are influenced by factors such as distance, cost, and time.</a:t>
            </a:r>
            <a:endParaRPr lang="en-IN" sz="1400" dirty="0">
              <a:latin typeface="Baskerville Old Face" panose="02020602080505020303" pitchFamily="18" charset="0"/>
            </a:endParaRPr>
          </a:p>
        </p:txBody>
      </p:sp>
    </p:spTree>
    <p:extLst>
      <p:ext uri="{BB962C8B-B14F-4D97-AF65-F5344CB8AC3E}">
        <p14:creationId xmlns:p14="http://schemas.microsoft.com/office/powerpoint/2010/main" val="3818831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3F18B-DDB6-C013-0DFD-DA596B60D839}"/>
              </a:ext>
            </a:extLst>
          </p:cNvPr>
          <p:cNvSpPr>
            <a:spLocks noGrp="1"/>
          </p:cNvSpPr>
          <p:nvPr>
            <p:ph type="title"/>
          </p:nvPr>
        </p:nvSpPr>
        <p:spPr>
          <a:xfrm>
            <a:off x="836612" y="1403464"/>
            <a:ext cx="4071818" cy="2182483"/>
          </a:xfrm>
        </p:spPr>
        <p:txBody>
          <a:bodyPr>
            <a:normAutofit/>
          </a:bodyPr>
          <a:lstStyle/>
          <a:p>
            <a:pPr algn="ctr"/>
            <a:r>
              <a:rPr lang="en-IN" sz="4400" dirty="0">
                <a:latin typeface="Baskerville Old Face" panose="02020602080505020303" pitchFamily="18" charset="0"/>
              </a:rPr>
              <a:t>DASHBOARDS</a:t>
            </a:r>
          </a:p>
        </p:txBody>
      </p:sp>
      <p:pic>
        <p:nvPicPr>
          <p:cNvPr id="11" name="Picture Placeholder 10" descr="A white airplane on a runway&#10;&#10;AI-generated content may be incorrect.">
            <a:extLst>
              <a:ext uri="{FF2B5EF4-FFF2-40B4-BE49-F238E27FC236}">
                <a16:creationId xmlns:a16="http://schemas.microsoft.com/office/drawing/2014/main" id="{1B4CC7F8-FBB1-A2AE-8B47-1D9F4256EF67}"/>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4355" r="4355"/>
          <a:stretch>
            <a:fillRect/>
          </a:stretch>
        </p:blipFill>
        <p:spPr>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00078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7F8D7-A725-4718-FF1D-E4249E61606F}"/>
              </a:ext>
            </a:extLst>
          </p:cNvPr>
          <p:cNvSpPr>
            <a:spLocks noGrp="1"/>
          </p:cNvSpPr>
          <p:nvPr>
            <p:ph type="title"/>
          </p:nvPr>
        </p:nvSpPr>
        <p:spPr/>
        <p:txBody>
          <a:bodyPr>
            <a:normAutofit/>
          </a:bodyPr>
          <a:lstStyle/>
          <a:p>
            <a:pPr algn="ctr"/>
            <a:r>
              <a:rPr lang="en-IN" sz="4800" dirty="0">
                <a:latin typeface="Baskerville Old Face" panose="02020602080505020303" pitchFamily="18" charset="0"/>
              </a:rPr>
              <a:t>EXCEL DASHBOARD</a:t>
            </a:r>
          </a:p>
        </p:txBody>
      </p:sp>
      <p:pic>
        <p:nvPicPr>
          <p:cNvPr id="5" name="Content Placeholder 4">
            <a:extLst>
              <a:ext uri="{FF2B5EF4-FFF2-40B4-BE49-F238E27FC236}">
                <a16:creationId xmlns:a16="http://schemas.microsoft.com/office/drawing/2014/main" id="{C9B10E2F-905A-5F06-2EB9-0B123D48F423}"/>
              </a:ext>
            </a:extLst>
          </p:cNvPr>
          <p:cNvPicPr>
            <a:picLocks noGrp="1" noChangeAspect="1"/>
          </p:cNvPicPr>
          <p:nvPr>
            <p:ph idx="1"/>
          </p:nvPr>
        </p:nvPicPr>
        <p:blipFill>
          <a:blip r:embed="rId2"/>
          <a:stretch>
            <a:fillRect/>
          </a:stretch>
        </p:blipFill>
        <p:spPr>
          <a:xfrm>
            <a:off x="1599871" y="1777042"/>
            <a:ext cx="8992257" cy="4399921"/>
          </a:xfrm>
        </p:spPr>
      </p:pic>
    </p:spTree>
    <p:extLst>
      <p:ext uri="{BB962C8B-B14F-4D97-AF65-F5344CB8AC3E}">
        <p14:creationId xmlns:p14="http://schemas.microsoft.com/office/powerpoint/2010/main" val="4074906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004A2-42BB-2C98-78F3-2D1F6E80ADDF}"/>
              </a:ext>
            </a:extLst>
          </p:cNvPr>
          <p:cNvSpPr>
            <a:spLocks noGrp="1"/>
          </p:cNvSpPr>
          <p:nvPr>
            <p:ph type="title"/>
          </p:nvPr>
        </p:nvSpPr>
        <p:spPr/>
        <p:txBody>
          <a:bodyPr>
            <a:normAutofit/>
          </a:bodyPr>
          <a:lstStyle/>
          <a:p>
            <a:pPr algn="ctr"/>
            <a:r>
              <a:rPr lang="en-IN" sz="4800" dirty="0">
                <a:latin typeface="Baskerville Old Face" panose="02020602080505020303" pitchFamily="18" charset="0"/>
              </a:rPr>
              <a:t>POWER BI DASHBOARD</a:t>
            </a:r>
          </a:p>
        </p:txBody>
      </p:sp>
      <p:pic>
        <p:nvPicPr>
          <p:cNvPr id="5" name="Content Placeholder 4">
            <a:extLst>
              <a:ext uri="{FF2B5EF4-FFF2-40B4-BE49-F238E27FC236}">
                <a16:creationId xmlns:a16="http://schemas.microsoft.com/office/drawing/2014/main" id="{A74BFD98-F383-7F6E-5200-F376AB88C766}"/>
              </a:ext>
            </a:extLst>
          </p:cNvPr>
          <p:cNvPicPr>
            <a:picLocks noGrp="1" noChangeAspect="1"/>
          </p:cNvPicPr>
          <p:nvPr>
            <p:ph idx="1"/>
          </p:nvPr>
        </p:nvPicPr>
        <p:blipFill>
          <a:blip r:embed="rId2"/>
          <a:stretch>
            <a:fillRect/>
          </a:stretch>
        </p:blipFill>
        <p:spPr>
          <a:xfrm>
            <a:off x="1104180" y="1353180"/>
            <a:ext cx="10041147" cy="5211522"/>
          </a:xfrm>
        </p:spPr>
      </p:pic>
    </p:spTree>
    <p:extLst>
      <p:ext uri="{BB962C8B-B14F-4D97-AF65-F5344CB8AC3E}">
        <p14:creationId xmlns:p14="http://schemas.microsoft.com/office/powerpoint/2010/main" val="360205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0970E-2FD6-6B22-E436-CB8C5BB0C95B}"/>
              </a:ext>
            </a:extLst>
          </p:cNvPr>
          <p:cNvSpPr>
            <a:spLocks noGrp="1"/>
          </p:cNvSpPr>
          <p:nvPr>
            <p:ph type="title"/>
          </p:nvPr>
        </p:nvSpPr>
        <p:spPr/>
        <p:txBody>
          <a:bodyPr>
            <a:normAutofit/>
          </a:bodyPr>
          <a:lstStyle/>
          <a:p>
            <a:pPr algn="ctr"/>
            <a:r>
              <a:rPr lang="en-IN" sz="4800" dirty="0">
                <a:latin typeface="Baskerville Old Face" panose="02020602080505020303" pitchFamily="18" charset="0"/>
              </a:rPr>
              <a:t>TABLEAU DASHBOARD</a:t>
            </a:r>
          </a:p>
        </p:txBody>
      </p:sp>
      <p:pic>
        <p:nvPicPr>
          <p:cNvPr id="5" name="Content Placeholder 4">
            <a:extLst>
              <a:ext uri="{FF2B5EF4-FFF2-40B4-BE49-F238E27FC236}">
                <a16:creationId xmlns:a16="http://schemas.microsoft.com/office/drawing/2014/main" id="{FF6A0222-F2FD-348B-7B27-D4193A8C502D}"/>
              </a:ext>
            </a:extLst>
          </p:cNvPr>
          <p:cNvPicPr>
            <a:picLocks noGrp="1" noChangeAspect="1"/>
          </p:cNvPicPr>
          <p:nvPr>
            <p:ph idx="1"/>
          </p:nvPr>
        </p:nvPicPr>
        <p:blipFill>
          <a:blip r:embed="rId2"/>
          <a:stretch>
            <a:fillRect/>
          </a:stretch>
        </p:blipFill>
        <p:spPr>
          <a:xfrm>
            <a:off x="966158" y="1570008"/>
            <a:ext cx="10325819" cy="4922867"/>
          </a:xfrm>
        </p:spPr>
      </p:pic>
    </p:spTree>
    <p:extLst>
      <p:ext uri="{BB962C8B-B14F-4D97-AF65-F5344CB8AC3E}">
        <p14:creationId xmlns:p14="http://schemas.microsoft.com/office/powerpoint/2010/main" val="2681628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ED5F9-621C-1D1F-2D9A-B78DA996F34C}"/>
              </a:ext>
            </a:extLst>
          </p:cNvPr>
          <p:cNvSpPr>
            <a:spLocks noGrp="1"/>
          </p:cNvSpPr>
          <p:nvPr>
            <p:ph type="title"/>
          </p:nvPr>
        </p:nvSpPr>
        <p:spPr/>
        <p:txBody>
          <a:bodyPr/>
          <a:lstStyle/>
          <a:p>
            <a:pPr algn="ctr"/>
            <a:r>
              <a:rPr lang="en-IN" dirty="0">
                <a:latin typeface="Baskerville Old Face" panose="02020602080505020303" pitchFamily="18" charset="0"/>
              </a:rPr>
              <a:t>KEY INSIGHTS</a:t>
            </a:r>
          </a:p>
        </p:txBody>
      </p:sp>
      <p:sp>
        <p:nvSpPr>
          <p:cNvPr id="3" name="Content Placeholder 2">
            <a:extLst>
              <a:ext uri="{FF2B5EF4-FFF2-40B4-BE49-F238E27FC236}">
                <a16:creationId xmlns:a16="http://schemas.microsoft.com/office/drawing/2014/main" id="{BE3CDF62-11ED-1346-8D81-9EE4AF994BD4}"/>
              </a:ext>
            </a:extLst>
          </p:cNvPr>
          <p:cNvSpPr>
            <a:spLocks noGrp="1"/>
          </p:cNvSpPr>
          <p:nvPr>
            <p:ph idx="1"/>
          </p:nvPr>
        </p:nvSpPr>
        <p:spPr/>
        <p:txBody>
          <a:bodyPr>
            <a:noAutofit/>
          </a:bodyPr>
          <a:lstStyle/>
          <a:p>
            <a:r>
              <a:rPr lang="en-US" sz="3200" dirty="0">
                <a:latin typeface="Baskerville Old Face" panose="02020602080505020303" pitchFamily="18" charset="0"/>
              </a:rPr>
              <a:t>Optimize Fight Routes: Utilize insight from up routes and flights to Optimize schedule and resource allocation. </a:t>
            </a:r>
          </a:p>
          <a:p>
            <a:r>
              <a:rPr lang="en-US" sz="3200" dirty="0">
                <a:latin typeface="Baskerville Old Face" panose="02020602080505020303" pitchFamily="18" charset="0"/>
              </a:rPr>
              <a:t>Enhance Load Factor: Average load factor analysis to identify trends and implement strategies for increased efficiency. </a:t>
            </a:r>
          </a:p>
          <a:p>
            <a:r>
              <a:rPr lang="en-US" sz="3200" dirty="0" err="1">
                <a:latin typeface="Baskerville Old Face" panose="02020602080505020303" pitchFamily="18" charset="0"/>
              </a:rPr>
              <a:t>Stratergic</a:t>
            </a:r>
            <a:r>
              <a:rPr lang="en-US" sz="3200" dirty="0">
                <a:latin typeface="Baskerville Old Face" panose="02020602080505020303" pitchFamily="18" charset="0"/>
              </a:rPr>
              <a:t> Carrier Partnership: Collaborate with top carriers to maximize passenger transportation and enhance overall performance. </a:t>
            </a:r>
          </a:p>
          <a:p>
            <a:r>
              <a:rPr lang="en-US" sz="3200" dirty="0" err="1">
                <a:latin typeface="Baskerville Old Face" panose="02020602080505020303" pitchFamily="18" charset="0"/>
              </a:rPr>
              <a:t>Resourse</a:t>
            </a:r>
            <a:r>
              <a:rPr lang="en-US" sz="3200" dirty="0">
                <a:latin typeface="Baskerville Old Face" panose="02020602080505020303" pitchFamily="18" charset="0"/>
              </a:rPr>
              <a:t> Allocation: Allocate resources strategically based on flight schedules and passenger volume data. </a:t>
            </a:r>
            <a:endParaRPr lang="en-IN" sz="3200" dirty="0">
              <a:latin typeface="Baskerville Old Face" panose="02020602080505020303" pitchFamily="18" charset="0"/>
            </a:endParaRPr>
          </a:p>
        </p:txBody>
      </p:sp>
    </p:spTree>
    <p:extLst>
      <p:ext uri="{BB962C8B-B14F-4D97-AF65-F5344CB8AC3E}">
        <p14:creationId xmlns:p14="http://schemas.microsoft.com/office/powerpoint/2010/main" val="445616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2BBB-8F9A-A365-37FE-A6B84EC5FD97}"/>
              </a:ext>
            </a:extLst>
          </p:cNvPr>
          <p:cNvSpPr>
            <a:spLocks noGrp="1"/>
          </p:cNvSpPr>
          <p:nvPr>
            <p:ph type="title"/>
          </p:nvPr>
        </p:nvSpPr>
        <p:spPr/>
        <p:txBody>
          <a:bodyPr/>
          <a:lstStyle/>
          <a:p>
            <a:pPr algn="ctr"/>
            <a:r>
              <a:rPr lang="en-IN" dirty="0">
                <a:latin typeface="Baskerville Old Face" panose="02020602080505020303" pitchFamily="18" charset="0"/>
              </a:rPr>
              <a:t>RECOMMENDATIONS </a:t>
            </a:r>
          </a:p>
        </p:txBody>
      </p:sp>
      <p:sp>
        <p:nvSpPr>
          <p:cNvPr id="3" name="Content Placeholder 2">
            <a:extLst>
              <a:ext uri="{FF2B5EF4-FFF2-40B4-BE49-F238E27FC236}">
                <a16:creationId xmlns:a16="http://schemas.microsoft.com/office/drawing/2014/main" id="{5402DE2D-D438-2A76-C3C7-9BF03AEB97BF}"/>
              </a:ext>
            </a:extLst>
          </p:cNvPr>
          <p:cNvSpPr>
            <a:spLocks noGrp="1"/>
          </p:cNvSpPr>
          <p:nvPr>
            <p:ph idx="1"/>
          </p:nvPr>
        </p:nvSpPr>
        <p:spPr/>
        <p:txBody>
          <a:bodyPr>
            <a:normAutofit/>
          </a:bodyPr>
          <a:lstStyle/>
          <a:p>
            <a:r>
              <a:rPr lang="en-US" dirty="0">
                <a:latin typeface="Baskerville Old Face" panose="02020602080505020303" pitchFamily="18" charset="0"/>
              </a:rPr>
              <a:t>Optimize Fight Routes: Utilize insights from up routes and flights to Optimize schedule and resource allocation. </a:t>
            </a:r>
          </a:p>
          <a:p>
            <a:r>
              <a:rPr lang="en-US" dirty="0">
                <a:latin typeface="Baskerville Old Face" panose="02020602080505020303" pitchFamily="18" charset="0"/>
              </a:rPr>
              <a:t>Enhance Load Factor: Leverage load factor analysis to identify trends and implement strategies for increased efficiency. </a:t>
            </a:r>
          </a:p>
          <a:p>
            <a:r>
              <a:rPr lang="en-US" dirty="0" err="1">
                <a:latin typeface="Baskerville Old Face" panose="02020602080505020303" pitchFamily="18" charset="0"/>
              </a:rPr>
              <a:t>Stratergic</a:t>
            </a:r>
            <a:r>
              <a:rPr lang="en-US" dirty="0">
                <a:latin typeface="Baskerville Old Face" panose="02020602080505020303" pitchFamily="18" charset="0"/>
              </a:rPr>
              <a:t> Carrier Partnership: Collaborate with top carriers to maximize passenger transportation and enhance overall performance.</a:t>
            </a:r>
          </a:p>
          <a:p>
            <a:r>
              <a:rPr lang="en-US" dirty="0">
                <a:latin typeface="Baskerville Old Face" panose="02020602080505020303" pitchFamily="18" charset="0"/>
              </a:rPr>
              <a:t> </a:t>
            </a:r>
            <a:r>
              <a:rPr lang="en-US" dirty="0" err="1">
                <a:latin typeface="Baskerville Old Face" panose="02020602080505020303" pitchFamily="18" charset="0"/>
              </a:rPr>
              <a:t>Resourse</a:t>
            </a:r>
            <a:r>
              <a:rPr lang="en-US" dirty="0">
                <a:latin typeface="Baskerville Old Face" panose="02020602080505020303" pitchFamily="18" charset="0"/>
              </a:rPr>
              <a:t> Allocation: Allocate resources strategically based on flight schedules and passenger volume data. This ensures efficient operation and minimizes wait times at airports with high passenger traffic</a:t>
            </a:r>
            <a:endParaRPr lang="en-IN" dirty="0">
              <a:latin typeface="Baskerville Old Face" panose="02020602080505020303" pitchFamily="18" charset="0"/>
            </a:endParaRPr>
          </a:p>
        </p:txBody>
      </p:sp>
    </p:spTree>
    <p:extLst>
      <p:ext uri="{BB962C8B-B14F-4D97-AF65-F5344CB8AC3E}">
        <p14:creationId xmlns:p14="http://schemas.microsoft.com/office/powerpoint/2010/main" val="348473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856D1-1806-F0AE-3151-12B5724ADA91}"/>
              </a:ext>
            </a:extLst>
          </p:cNvPr>
          <p:cNvSpPr>
            <a:spLocks noGrp="1"/>
          </p:cNvSpPr>
          <p:nvPr>
            <p:ph type="title"/>
          </p:nvPr>
        </p:nvSpPr>
        <p:spPr/>
        <p:txBody>
          <a:bodyPr/>
          <a:lstStyle/>
          <a:p>
            <a:pPr algn="ctr"/>
            <a:r>
              <a:rPr lang="en-IN" dirty="0">
                <a:latin typeface="Baskerville Old Face" panose="02020602080505020303" pitchFamily="18" charset="0"/>
              </a:rPr>
              <a:t>CONCLUSION </a:t>
            </a:r>
          </a:p>
        </p:txBody>
      </p:sp>
      <p:sp>
        <p:nvSpPr>
          <p:cNvPr id="3" name="Content Placeholder 2">
            <a:extLst>
              <a:ext uri="{FF2B5EF4-FFF2-40B4-BE49-F238E27FC236}">
                <a16:creationId xmlns:a16="http://schemas.microsoft.com/office/drawing/2014/main" id="{3DE10A09-6004-384F-8115-39E807398913}"/>
              </a:ext>
            </a:extLst>
          </p:cNvPr>
          <p:cNvSpPr>
            <a:spLocks noGrp="1"/>
          </p:cNvSpPr>
          <p:nvPr>
            <p:ph idx="1"/>
          </p:nvPr>
        </p:nvSpPr>
        <p:spPr/>
        <p:txBody>
          <a:bodyPr>
            <a:normAutofit/>
          </a:bodyPr>
          <a:lstStyle/>
          <a:p>
            <a:pPr marL="0" indent="0">
              <a:buNone/>
            </a:pPr>
            <a:r>
              <a:rPr lang="en-US" sz="3600" dirty="0">
                <a:latin typeface="Baskerville Old Face" panose="02020602080505020303" pitchFamily="18" charset="0"/>
              </a:rPr>
              <a:t>High Cloud Airlines empowers the aviation industry with actionable insights, foresting efficiency, and strategic decision-making. The presented KPIs offer a glimpse into the vast potential for improvement and growth within the industry. By harnessing the power of data, we can drive positive changes, ensuring a bright future for High Cloud Airlines and its partners in the aviation sector.</a:t>
            </a:r>
            <a:endParaRPr lang="en-IN" sz="3600" dirty="0">
              <a:latin typeface="Baskerville Old Face" panose="02020602080505020303" pitchFamily="18" charset="0"/>
            </a:endParaRPr>
          </a:p>
        </p:txBody>
      </p:sp>
    </p:spTree>
    <p:extLst>
      <p:ext uri="{BB962C8B-B14F-4D97-AF65-F5344CB8AC3E}">
        <p14:creationId xmlns:p14="http://schemas.microsoft.com/office/powerpoint/2010/main" val="901075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lane flying in the sky&#10;&#10;AI-generated content may be incorrect.">
            <a:extLst>
              <a:ext uri="{FF2B5EF4-FFF2-40B4-BE49-F238E27FC236}">
                <a16:creationId xmlns:a16="http://schemas.microsoft.com/office/drawing/2014/main" id="{5DC9F4A5-AF4E-7CBB-8433-79E0DCC96C4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8840" r="8840"/>
          <a:stretch>
            <a:fillRect/>
          </a:stretch>
        </p:blipFill>
        <p:spPr>
          <a:xfrm>
            <a:off x="373224" y="298580"/>
            <a:ext cx="11467323" cy="63261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46691271"/>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2013 - 2022 Theme</Template>
  <TotalTime>185</TotalTime>
  <Words>1607</Words>
  <Application>Microsoft Office PowerPoint</Application>
  <PresentationFormat>Widescreen</PresentationFormat>
  <Paragraphs>102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Baskerville Old Face</vt:lpstr>
      <vt:lpstr>Calibri</vt:lpstr>
      <vt:lpstr>Calibri Light</vt:lpstr>
      <vt:lpstr>Wingdings</vt:lpstr>
      <vt:lpstr>Office 2013 - 2022 Theme</vt:lpstr>
      <vt:lpstr>HIGH CLOUD AIRLINES DATA ANALYSIS  PROJECT</vt:lpstr>
      <vt:lpstr>CONTENTS</vt:lpstr>
      <vt:lpstr>INTRODUCTION</vt:lpstr>
      <vt:lpstr>OBJECTIVE</vt:lpstr>
      <vt:lpstr>BUSINESS OVERVIEW</vt:lpstr>
      <vt:lpstr>PROJECT SCOPE</vt:lpstr>
      <vt:lpstr>DATA MODEL CHALLENGES</vt:lpstr>
      <vt:lpstr>KPI’s Analysis </vt:lpstr>
      <vt:lpstr> Load Factor Percentage on a Yearly</vt:lpstr>
      <vt:lpstr>Load Factor Percentage on a Quarterly</vt:lpstr>
      <vt:lpstr>Load Factor Percentage on a Monthly </vt:lpstr>
      <vt:lpstr>Load Factor Percentage on a Carrier Name Basis</vt:lpstr>
      <vt:lpstr>Top 10 Carrier Names Based on Passengers Preference</vt:lpstr>
      <vt:lpstr>Display Top 10 Routes Based on Number of Flight</vt:lpstr>
      <vt:lpstr>Load Factor is occupied on Weekend vs Weekdays.</vt:lpstr>
      <vt:lpstr>Identify number of flights based on Distance group</vt:lpstr>
      <vt:lpstr>DASHBOARDS</vt:lpstr>
      <vt:lpstr>EXCEL DASHBOARD</vt:lpstr>
      <vt:lpstr>POWER BI DASHBOARD</vt:lpstr>
      <vt:lpstr>TABLEAU DASHBOARD</vt:lpstr>
      <vt:lpstr>KEY INSIGHTS</vt:lpstr>
      <vt:lpstr>RECOMMENDATIONS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Puneeth K</dc:creator>
  <cp:lastModifiedBy>Puneeth K</cp:lastModifiedBy>
  <cp:revision>2</cp:revision>
  <dcterms:created xsi:type="dcterms:W3CDTF">2025-12-30T07:32:40Z</dcterms:created>
  <dcterms:modified xsi:type="dcterms:W3CDTF">2026-01-03T10:24:24Z</dcterms:modified>
</cp:coreProperties>
</file>